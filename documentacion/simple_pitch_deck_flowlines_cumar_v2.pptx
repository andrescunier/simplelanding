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abstract_technology_business_background_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simple_logo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7155" y="1042416"/>
            <a:ext cx="3503786" cy="104241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43000" y="2633472"/>
            <a:ext cx="9921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42335"/>
                </a:solidFill>
              </a:rPr>
              <a:t>Tu empresa aumentada por IA</a:t>
            </a:r>
            <a:endParaRPr lang="en-US" sz="4200" dirty="0"/>
          </a:p>
        </p:txBody>
      </p:sp>
      <p:sp>
        <p:nvSpPr>
          <p:cNvPr id="5" name="Text 1"/>
          <p:cNvSpPr/>
          <p:nvPr/>
        </p:nvSpPr>
        <p:spPr>
          <a:xfrm>
            <a:off x="1572768" y="352044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526A77"/>
                </a:solidFill>
              </a:rPr>
              <a:t>Agentes, bots, datos, integraciones y flujos trabajando de forma orgánica con tus equipos.</a:t>
            </a:r>
            <a:endParaRPr lang="en-US" sz="1650" dirty="0"/>
          </a:p>
        </p:txBody>
      </p:sp>
      <p:sp>
        <p:nvSpPr>
          <p:cNvPr id="6" name="Shape 2"/>
          <p:cNvSpPr/>
          <p:nvPr/>
        </p:nvSpPr>
        <p:spPr>
          <a:xfrm>
            <a:off x="2907792" y="4590288"/>
            <a:ext cx="1965960" cy="320040"/>
          </a:xfrm>
          <a:prstGeom prst="roundRect">
            <a:avLst>
              <a:gd name="adj" fmla="val 34286"/>
            </a:avLst>
          </a:prstGeom>
          <a:solidFill>
            <a:srgbClr val="34D399">
              <a:alpha val="80000"/>
            </a:srgbClr>
          </a:solidFill>
          <a:ln w="12700">
            <a:solidFill>
              <a:srgbClr val="34D399">
                <a:alpha val="7000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953512" y="4686300"/>
            <a:ext cx="1874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B2A47"/>
                </a:solidFill>
              </a:rPr>
              <a:t>Comunicación natural</a:t>
            </a:r>
            <a:endParaRPr lang="en-US" sz="820" dirty="0"/>
          </a:p>
        </p:txBody>
      </p:sp>
      <p:sp>
        <p:nvSpPr>
          <p:cNvPr id="8" name="Shape 4"/>
          <p:cNvSpPr/>
          <p:nvPr/>
        </p:nvSpPr>
        <p:spPr>
          <a:xfrm>
            <a:off x="5193792" y="4590288"/>
            <a:ext cx="1298448" cy="320040"/>
          </a:xfrm>
          <a:prstGeom prst="roundRect">
            <a:avLst>
              <a:gd name="adj" fmla="val 34286"/>
            </a:avLst>
          </a:prstGeom>
          <a:solidFill>
            <a:srgbClr val="317AF2">
              <a:alpha val="80000"/>
            </a:srgbClr>
          </a:solidFill>
          <a:ln w="12700">
            <a:solidFill>
              <a:srgbClr val="317AF2">
                <a:alpha val="70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239512" y="4686300"/>
            <a:ext cx="1207008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B2A47"/>
                </a:solidFill>
              </a:rPr>
              <a:t>Agentes IA</a:t>
            </a:r>
            <a:endParaRPr lang="en-US" sz="820" dirty="0"/>
          </a:p>
        </p:txBody>
      </p:sp>
      <p:sp>
        <p:nvSpPr>
          <p:cNvPr id="10" name="Shape 6"/>
          <p:cNvSpPr/>
          <p:nvPr/>
        </p:nvSpPr>
        <p:spPr>
          <a:xfrm>
            <a:off x="6839712" y="4590288"/>
            <a:ext cx="1691640" cy="320040"/>
          </a:xfrm>
          <a:prstGeom prst="roundRect">
            <a:avLst>
              <a:gd name="adj" fmla="val 34286"/>
            </a:avLst>
          </a:prstGeom>
          <a:solidFill>
            <a:srgbClr val="28C7E8">
              <a:alpha val="80000"/>
            </a:srgbClr>
          </a:solidFill>
          <a:ln w="12700">
            <a:solidFill>
              <a:srgbClr val="28C7E8">
                <a:alpha val="70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885432" y="4686300"/>
            <a:ext cx="16002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B2A47"/>
                </a:solidFill>
              </a:rPr>
              <a:t>Flujos conectados</a:t>
            </a:r>
            <a:endParaRPr lang="en-US" sz="820" dirty="0"/>
          </a:p>
        </p:txBody>
      </p:sp>
      <p:sp>
        <p:nvSpPr>
          <p:cNvPr id="12" name="Shape 8"/>
          <p:cNvSpPr/>
          <p:nvPr/>
        </p:nvSpPr>
        <p:spPr>
          <a:xfrm>
            <a:off x="8823960" y="4590288"/>
            <a:ext cx="1645920" cy="320040"/>
          </a:xfrm>
          <a:prstGeom prst="roundRect">
            <a:avLst>
              <a:gd name="adj" fmla="val 34286"/>
            </a:avLst>
          </a:prstGeom>
          <a:solidFill>
            <a:srgbClr val="6557E8">
              <a:alpha val="80000"/>
            </a:srgbClr>
          </a:solidFill>
          <a:ln w="12700">
            <a:solidFill>
              <a:srgbClr val="6557E8">
                <a:alpha val="70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869680" y="4686300"/>
            <a:ext cx="155448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B2A47"/>
                </a:solidFill>
              </a:rPr>
              <a:t>Operación humana</a:t>
            </a:r>
            <a:endParaRPr lang="en-US" sz="820" dirty="0"/>
          </a:p>
        </p:txBody>
      </p:sp>
      <p:sp>
        <p:nvSpPr>
          <p:cNvPr id="14" name="Shape 10"/>
          <p:cNvSpPr/>
          <p:nvPr/>
        </p:nvSpPr>
        <p:spPr>
          <a:xfrm>
            <a:off x="658368" y="6300216"/>
            <a:ext cx="10863072" cy="0"/>
          </a:xfrm>
          <a:prstGeom prst="line">
            <a:avLst/>
          </a:prstGeom>
          <a:noFill/>
          <a:ln w="12700">
            <a:solidFill>
              <a:srgbClr val="A9E6E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58368" y="6428232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A77"/>
                </a:solidFill>
              </a:rPr>
              <a:t>Simple · tu empresa aumentada por IA</a:t>
            </a:r>
            <a:endParaRPr lang="en-US" sz="780" dirty="0"/>
          </a:p>
        </p:txBody>
      </p:sp>
      <p:sp>
        <p:nvSpPr>
          <p:cNvPr id="16" name="Text 12"/>
          <p:cNvSpPr/>
          <p:nvPr/>
        </p:nvSpPr>
        <p:spPr>
          <a:xfrm>
            <a:off x="11064240" y="64282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17AF2"/>
                </a:solidFill>
              </a:rPr>
              <a:t>01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abstract_technology_business_background_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simple_logo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690" y="292608"/>
            <a:ext cx="1536748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493776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17AF2"/>
                </a:solidFill>
              </a:rPr>
              <a:t>EL DOLOR REAL</a:t>
            </a:r>
            <a:endParaRPr lang="en-US" sz="850" dirty="0"/>
          </a:p>
        </p:txBody>
      </p:sp>
      <p:sp>
        <p:nvSpPr>
          <p:cNvPr id="5" name="Shape 1"/>
          <p:cNvSpPr/>
          <p:nvPr/>
        </p:nvSpPr>
        <p:spPr>
          <a:xfrm>
            <a:off x="658368" y="6300216"/>
            <a:ext cx="10863072" cy="0"/>
          </a:xfrm>
          <a:prstGeom prst="line">
            <a:avLst/>
          </a:prstGeom>
          <a:noFill/>
          <a:ln w="12700">
            <a:solidFill>
              <a:srgbClr val="A9E6E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58368" y="6428232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A77"/>
                </a:solidFill>
              </a:rPr>
              <a:t>Simple · tu empresa aumentada por IA</a:t>
            </a:r>
            <a:endParaRPr lang="en-US" sz="780" dirty="0"/>
          </a:p>
        </p:txBody>
      </p:sp>
      <p:sp>
        <p:nvSpPr>
          <p:cNvPr id="7" name="Text 3"/>
          <p:cNvSpPr/>
          <p:nvPr/>
        </p:nvSpPr>
        <p:spPr>
          <a:xfrm>
            <a:off x="11064240" y="64282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17AF2"/>
                </a:solidFill>
              </a:rPr>
              <a:t>02</a:t>
            </a:r>
            <a:endParaRPr lang="en-US" sz="780" dirty="0"/>
          </a:p>
        </p:txBody>
      </p:sp>
      <p:sp>
        <p:nvSpPr>
          <p:cNvPr id="8" name="Text 4"/>
          <p:cNvSpPr/>
          <p:nvPr/>
        </p:nvSpPr>
        <p:spPr>
          <a:xfrm>
            <a:off x="658368" y="960120"/>
            <a:ext cx="8778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3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 empresa ya habla por todos lados. Tus sistemas no siempre escuchan.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658368" y="1792224"/>
            <a:ext cx="76809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526A77"/>
                </a:solidFill>
              </a:rPr>
              <a:t>Mensajes, audios, mails, llamadas, planillas, CRM, ERP, pagos y logística. La operación vive en conversaciones, pero la tecnología suele quedar separada.</a:t>
            </a:r>
            <a:endParaRPr lang="en-US" sz="1420" dirty="0"/>
          </a:p>
        </p:txBody>
      </p:sp>
      <p:sp>
        <p:nvSpPr>
          <p:cNvPr id="10" name="Shape 6"/>
          <p:cNvSpPr/>
          <p:nvPr/>
        </p:nvSpPr>
        <p:spPr>
          <a:xfrm>
            <a:off x="859536" y="2889504"/>
            <a:ext cx="0" cy="804672"/>
          </a:xfrm>
          <a:prstGeom prst="line">
            <a:avLst/>
          </a:prstGeom>
          <a:noFill/>
          <a:ln w="12700">
            <a:solidFill>
              <a:srgbClr val="0B2A4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097280" y="2862072"/>
            <a:ext cx="493776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0B2A47"/>
                </a:solidFill>
              </a:rPr>
              <a:t>El problema no es falta de software.</a:t>
            </a:r>
            <a:endParaRPr lang="en-US" sz="1720" dirty="0"/>
          </a:p>
          <a:p>
            <a:pPr algn="l" indent="0" marL="0">
              <a:buNone/>
            </a:pPr>
            <a:r>
              <a:rPr lang="en-US" sz="1720" b="1" dirty="0">
                <a:solidFill>
                  <a:srgbClr val="0B2A47"/>
                </a:solidFill>
              </a:rPr>
              <a:t>El problema es falta de coordinación.</a:t>
            </a:r>
            <a:endParaRPr lang="en-US" sz="1720" dirty="0"/>
          </a:p>
        </p:txBody>
      </p:sp>
      <p:sp>
        <p:nvSpPr>
          <p:cNvPr id="12" name="Shape 8"/>
          <p:cNvSpPr/>
          <p:nvPr/>
        </p:nvSpPr>
        <p:spPr>
          <a:xfrm>
            <a:off x="6537960" y="2514600"/>
            <a:ext cx="1828800" cy="786384"/>
          </a:xfrm>
          <a:prstGeom prst="roundRect">
            <a:avLst>
              <a:gd name="adj" fmla="val 12791"/>
            </a:avLst>
          </a:prstGeom>
          <a:solidFill>
            <a:srgbClr val="F0FBFD"/>
          </a:solidFill>
          <a:ln w="12700">
            <a:solidFill>
              <a:srgbClr val="34D399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37960" y="2514600"/>
            <a:ext cx="64008" cy="786384"/>
          </a:xfrm>
          <a:prstGeom prst="rect">
            <a:avLst/>
          </a:prstGeom>
          <a:solidFill>
            <a:srgbClr val="34D39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720840" y="2670048"/>
            <a:ext cx="14996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Canales</a:t>
            </a:r>
            <a:endParaRPr lang="en-US" sz="1220" dirty="0"/>
          </a:p>
        </p:txBody>
      </p:sp>
      <p:sp>
        <p:nvSpPr>
          <p:cNvPr id="15" name="Text 11"/>
          <p:cNvSpPr/>
          <p:nvPr/>
        </p:nvSpPr>
        <p:spPr>
          <a:xfrm>
            <a:off x="6720840" y="2990088"/>
            <a:ext cx="14630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WhatsApp, email, audios.</a:t>
            </a:r>
            <a:endParaRPr lang="en-US" sz="1070" dirty="0"/>
          </a:p>
        </p:txBody>
      </p:sp>
      <p:sp>
        <p:nvSpPr>
          <p:cNvPr id="16" name="Shape 12"/>
          <p:cNvSpPr/>
          <p:nvPr/>
        </p:nvSpPr>
        <p:spPr>
          <a:xfrm>
            <a:off x="8887968" y="2514600"/>
            <a:ext cx="1828800" cy="786384"/>
          </a:xfrm>
          <a:prstGeom prst="roundRect">
            <a:avLst>
              <a:gd name="adj" fmla="val 12791"/>
            </a:avLst>
          </a:prstGeom>
          <a:solidFill>
            <a:srgbClr val="F0FBFD"/>
          </a:solidFill>
          <a:ln w="12700">
            <a:solidFill>
              <a:srgbClr val="317AF2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887968" y="2514600"/>
            <a:ext cx="64008" cy="786384"/>
          </a:xfrm>
          <a:prstGeom prst="rect">
            <a:avLst/>
          </a:prstGeom>
          <a:solidFill>
            <a:srgbClr val="317A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070848" y="2670048"/>
            <a:ext cx="14996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Sistemas</a:t>
            </a:r>
            <a:endParaRPr lang="en-US" sz="1220" dirty="0"/>
          </a:p>
        </p:txBody>
      </p:sp>
      <p:sp>
        <p:nvSpPr>
          <p:cNvPr id="19" name="Text 15"/>
          <p:cNvSpPr/>
          <p:nvPr/>
        </p:nvSpPr>
        <p:spPr>
          <a:xfrm>
            <a:off x="9070848" y="2990088"/>
            <a:ext cx="14630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CRM, ERP, pagos.</a:t>
            </a:r>
            <a:endParaRPr lang="en-US" sz="1070" dirty="0"/>
          </a:p>
        </p:txBody>
      </p:sp>
      <p:sp>
        <p:nvSpPr>
          <p:cNvPr id="20" name="Shape 16"/>
          <p:cNvSpPr/>
          <p:nvPr/>
        </p:nvSpPr>
        <p:spPr>
          <a:xfrm>
            <a:off x="6537960" y="3858768"/>
            <a:ext cx="1828800" cy="786384"/>
          </a:xfrm>
          <a:prstGeom prst="roundRect">
            <a:avLst>
              <a:gd name="adj" fmla="val 12791"/>
            </a:avLst>
          </a:prstGeom>
          <a:solidFill>
            <a:srgbClr val="F0FBFD"/>
          </a:solidFill>
          <a:ln w="12700">
            <a:solidFill>
              <a:srgbClr val="28C7E8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537960" y="3858768"/>
            <a:ext cx="64008" cy="786384"/>
          </a:xfrm>
          <a:prstGeom prst="rect">
            <a:avLst/>
          </a:prstGeom>
          <a:solidFill>
            <a:srgbClr val="28C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720840" y="4014216"/>
            <a:ext cx="14996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Datos</a:t>
            </a:r>
            <a:endParaRPr lang="en-US" sz="1220" dirty="0"/>
          </a:p>
        </p:txBody>
      </p:sp>
      <p:sp>
        <p:nvSpPr>
          <p:cNvPr id="23" name="Text 19"/>
          <p:cNvSpPr/>
          <p:nvPr/>
        </p:nvSpPr>
        <p:spPr>
          <a:xfrm>
            <a:off x="6720840" y="4334256"/>
            <a:ext cx="14630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Excel, reportes, archivos.</a:t>
            </a:r>
            <a:endParaRPr lang="en-US" sz="1070" dirty="0"/>
          </a:p>
        </p:txBody>
      </p:sp>
      <p:sp>
        <p:nvSpPr>
          <p:cNvPr id="24" name="Shape 20"/>
          <p:cNvSpPr/>
          <p:nvPr/>
        </p:nvSpPr>
        <p:spPr>
          <a:xfrm>
            <a:off x="8887968" y="3858768"/>
            <a:ext cx="1828800" cy="786384"/>
          </a:xfrm>
          <a:prstGeom prst="roundRect">
            <a:avLst>
              <a:gd name="adj" fmla="val 12791"/>
            </a:avLst>
          </a:prstGeom>
          <a:solidFill>
            <a:srgbClr val="F0FBFD"/>
          </a:solidFill>
          <a:ln w="12700">
            <a:solidFill>
              <a:srgbClr val="6557E8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8887968" y="3858768"/>
            <a:ext cx="64008" cy="786384"/>
          </a:xfrm>
          <a:prstGeom prst="rect">
            <a:avLst/>
          </a:prstGeom>
          <a:solidFill>
            <a:srgbClr val="655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9070848" y="4014216"/>
            <a:ext cx="14996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Personas</a:t>
            </a:r>
            <a:endParaRPr lang="en-US" sz="1220" dirty="0"/>
          </a:p>
        </p:txBody>
      </p:sp>
      <p:sp>
        <p:nvSpPr>
          <p:cNvPr id="27" name="Text 23"/>
          <p:cNvSpPr/>
          <p:nvPr/>
        </p:nvSpPr>
        <p:spPr>
          <a:xfrm>
            <a:off x="9070848" y="4334256"/>
            <a:ext cx="14630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Deciden y resuelven excepciones.</a:t>
            </a:r>
            <a:endParaRPr lang="en-US" sz="1070" dirty="0"/>
          </a:p>
        </p:txBody>
      </p:sp>
      <p:sp>
        <p:nvSpPr>
          <p:cNvPr id="28" name="Text 24"/>
          <p:cNvSpPr/>
          <p:nvPr/>
        </p:nvSpPr>
        <p:spPr>
          <a:xfrm>
            <a:off x="6629400" y="5157216"/>
            <a:ext cx="43891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B2A47"/>
                </a:solidFill>
              </a:rPr>
              <a:t>Simple aparece para unir esas conversaciones con acciones reales.</a:t>
            </a:r>
            <a:endParaRPr lang="en-US" sz="14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abstract_technology_business_background_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simple_logo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690" y="292608"/>
            <a:ext cx="1536748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493776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17AF2"/>
                </a:solidFill>
              </a:rPr>
              <a:t>LA PROMESA</a:t>
            </a:r>
            <a:endParaRPr lang="en-US" sz="850" dirty="0"/>
          </a:p>
        </p:txBody>
      </p:sp>
      <p:sp>
        <p:nvSpPr>
          <p:cNvPr id="5" name="Shape 1"/>
          <p:cNvSpPr/>
          <p:nvPr/>
        </p:nvSpPr>
        <p:spPr>
          <a:xfrm>
            <a:off x="658368" y="6300216"/>
            <a:ext cx="10863072" cy="0"/>
          </a:xfrm>
          <a:prstGeom prst="line">
            <a:avLst/>
          </a:prstGeom>
          <a:noFill/>
          <a:ln w="12700">
            <a:solidFill>
              <a:srgbClr val="A9E6E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58368" y="6428232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A77"/>
                </a:solidFill>
              </a:rPr>
              <a:t>Simple · tu empresa aumentada por IA</a:t>
            </a:r>
            <a:endParaRPr lang="en-US" sz="780" dirty="0"/>
          </a:p>
        </p:txBody>
      </p:sp>
      <p:sp>
        <p:nvSpPr>
          <p:cNvPr id="7" name="Text 3"/>
          <p:cNvSpPr/>
          <p:nvPr/>
        </p:nvSpPr>
        <p:spPr>
          <a:xfrm>
            <a:off x="11064240" y="64282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17AF2"/>
                </a:solidFill>
              </a:rPr>
              <a:t>03</a:t>
            </a:r>
            <a:endParaRPr lang="en-US" sz="780" dirty="0"/>
          </a:p>
        </p:txBody>
      </p:sp>
      <p:sp>
        <p:nvSpPr>
          <p:cNvPr id="8" name="Text 4"/>
          <p:cNvSpPr/>
          <p:nvPr/>
        </p:nvSpPr>
        <p:spPr>
          <a:xfrm>
            <a:off x="658368" y="960120"/>
            <a:ext cx="8915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50" b="1" dirty="0">
                <a:solidFill>
                  <a:srgbClr val="1423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sumes otra herramienta. Hacé que las que ya tenés trabajen juntas.</a:t>
            </a:r>
            <a:endParaRPr lang="en-US" sz="3050" dirty="0"/>
          </a:p>
        </p:txBody>
      </p:sp>
      <p:sp>
        <p:nvSpPr>
          <p:cNvPr id="9" name="Text 5"/>
          <p:cNvSpPr/>
          <p:nvPr/>
        </p:nvSpPr>
        <p:spPr>
          <a:xfrm>
            <a:off x="658368" y="1792224"/>
            <a:ext cx="72237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26A77"/>
                </a:solidFill>
              </a:rPr>
              <a:t>Simple conecta lo que tu equipo dice, lo que tus sistemas saben y lo que tus procesos necesitan ejecutar.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713232" y="2788920"/>
            <a:ext cx="2448306" cy="1078992"/>
          </a:xfrm>
          <a:prstGeom prst="roundRect">
            <a:avLst>
              <a:gd name="adj" fmla="val 9322"/>
            </a:avLst>
          </a:prstGeom>
          <a:solidFill>
            <a:srgbClr val="F0FBFD"/>
          </a:solidFill>
          <a:ln w="12700">
            <a:solidFill>
              <a:srgbClr val="34D399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13232" y="2788920"/>
            <a:ext cx="64008" cy="1078992"/>
          </a:xfrm>
          <a:prstGeom prst="rect">
            <a:avLst/>
          </a:prstGeom>
          <a:solidFill>
            <a:srgbClr val="34D39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96112" y="2944368"/>
            <a:ext cx="211912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Comunicación</a:t>
            </a:r>
            <a:endParaRPr lang="en-US" sz="1220" dirty="0"/>
          </a:p>
        </p:txBody>
      </p:sp>
      <p:sp>
        <p:nvSpPr>
          <p:cNvPr id="13" name="Text 9"/>
          <p:cNvSpPr/>
          <p:nvPr/>
        </p:nvSpPr>
        <p:spPr>
          <a:xfrm>
            <a:off x="896112" y="3264408"/>
            <a:ext cx="208254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WhatsApp, email, audio, web y grupos.</a:t>
            </a:r>
            <a:endParaRPr lang="en-US" sz="1070" dirty="0"/>
          </a:p>
        </p:txBody>
      </p:sp>
      <p:sp>
        <p:nvSpPr>
          <p:cNvPr id="14" name="Shape 10"/>
          <p:cNvSpPr/>
          <p:nvPr/>
        </p:nvSpPr>
        <p:spPr>
          <a:xfrm>
            <a:off x="3207258" y="3328416"/>
            <a:ext cx="210312" cy="0"/>
          </a:xfrm>
          <a:prstGeom prst="line">
            <a:avLst/>
          </a:prstGeom>
          <a:noFill/>
          <a:ln w="12700">
            <a:solidFill>
              <a:srgbClr val="34D399">
                <a:alpha val="98000"/>
              </a:srgbClr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3481578" y="2788920"/>
            <a:ext cx="2448306" cy="1078992"/>
          </a:xfrm>
          <a:prstGeom prst="roundRect">
            <a:avLst>
              <a:gd name="adj" fmla="val 9322"/>
            </a:avLst>
          </a:prstGeom>
          <a:solidFill>
            <a:srgbClr val="F0FBFD"/>
          </a:solidFill>
          <a:ln w="12700">
            <a:solidFill>
              <a:srgbClr val="28C7E8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481578" y="2788920"/>
            <a:ext cx="64008" cy="1078992"/>
          </a:xfrm>
          <a:prstGeom prst="rect">
            <a:avLst/>
          </a:prstGeom>
          <a:solidFill>
            <a:srgbClr val="28C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664458" y="2944368"/>
            <a:ext cx="211912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Contexto</a:t>
            </a:r>
            <a:endParaRPr lang="en-US" sz="1220" dirty="0"/>
          </a:p>
        </p:txBody>
      </p:sp>
      <p:sp>
        <p:nvSpPr>
          <p:cNvPr id="18" name="Text 14"/>
          <p:cNvSpPr/>
          <p:nvPr/>
        </p:nvSpPr>
        <p:spPr>
          <a:xfrm>
            <a:off x="3664458" y="3264408"/>
            <a:ext cx="208254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CRM, ERP, bases, documentos y reglas.</a:t>
            </a:r>
            <a:endParaRPr lang="en-US" sz="1070" dirty="0"/>
          </a:p>
        </p:txBody>
      </p:sp>
      <p:sp>
        <p:nvSpPr>
          <p:cNvPr id="19" name="Shape 15"/>
          <p:cNvSpPr/>
          <p:nvPr/>
        </p:nvSpPr>
        <p:spPr>
          <a:xfrm>
            <a:off x="5975604" y="3328416"/>
            <a:ext cx="210312" cy="0"/>
          </a:xfrm>
          <a:prstGeom prst="line">
            <a:avLst/>
          </a:prstGeom>
          <a:noFill/>
          <a:ln w="12700">
            <a:solidFill>
              <a:srgbClr val="28C7E8">
                <a:alpha val="98000"/>
              </a:srgbClr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6249924" y="2788920"/>
            <a:ext cx="2448306" cy="1078992"/>
          </a:xfrm>
          <a:prstGeom prst="roundRect">
            <a:avLst>
              <a:gd name="adj" fmla="val 9322"/>
            </a:avLst>
          </a:prstGeom>
          <a:solidFill>
            <a:srgbClr val="F0FBFD"/>
          </a:solidFill>
          <a:ln w="12700">
            <a:solidFill>
              <a:srgbClr val="317AF2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49924" y="2788920"/>
            <a:ext cx="64008" cy="1078992"/>
          </a:xfrm>
          <a:prstGeom prst="rect">
            <a:avLst/>
          </a:prstGeom>
          <a:solidFill>
            <a:srgbClr val="317A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432804" y="2944368"/>
            <a:ext cx="211912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IA aplicada</a:t>
            </a:r>
            <a:endParaRPr lang="en-US" sz="1220" dirty="0"/>
          </a:p>
        </p:txBody>
      </p:sp>
      <p:sp>
        <p:nvSpPr>
          <p:cNvPr id="23" name="Text 19"/>
          <p:cNvSpPr/>
          <p:nvPr/>
        </p:nvSpPr>
        <p:spPr>
          <a:xfrm>
            <a:off x="6432804" y="3264408"/>
            <a:ext cx="208254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Agentes, bots, copilotos y Brainiac.</a:t>
            </a:r>
            <a:endParaRPr lang="en-US" sz="1070" dirty="0"/>
          </a:p>
        </p:txBody>
      </p:sp>
      <p:sp>
        <p:nvSpPr>
          <p:cNvPr id="24" name="Shape 20"/>
          <p:cNvSpPr/>
          <p:nvPr/>
        </p:nvSpPr>
        <p:spPr>
          <a:xfrm>
            <a:off x="8743950" y="3328416"/>
            <a:ext cx="210312" cy="0"/>
          </a:xfrm>
          <a:prstGeom prst="line">
            <a:avLst/>
          </a:prstGeom>
          <a:noFill/>
          <a:ln w="12700">
            <a:solidFill>
              <a:srgbClr val="317AF2">
                <a:alpha val="98000"/>
              </a:srgbClr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9018270" y="2788920"/>
            <a:ext cx="2448306" cy="1078992"/>
          </a:xfrm>
          <a:prstGeom prst="roundRect">
            <a:avLst>
              <a:gd name="adj" fmla="val 9322"/>
            </a:avLst>
          </a:prstGeom>
          <a:solidFill>
            <a:srgbClr val="F0FBFD"/>
          </a:solidFill>
          <a:ln w="12700">
            <a:solidFill>
              <a:srgbClr val="6557E8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9018270" y="2788920"/>
            <a:ext cx="64008" cy="1078992"/>
          </a:xfrm>
          <a:prstGeom prst="rect">
            <a:avLst/>
          </a:prstGeom>
          <a:solidFill>
            <a:srgbClr val="655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201150" y="2944368"/>
            <a:ext cx="211912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Acción</a:t>
            </a:r>
            <a:endParaRPr lang="en-US" sz="1220" dirty="0"/>
          </a:p>
        </p:txBody>
      </p:sp>
      <p:sp>
        <p:nvSpPr>
          <p:cNvPr id="28" name="Text 24"/>
          <p:cNvSpPr/>
          <p:nvPr/>
        </p:nvSpPr>
        <p:spPr>
          <a:xfrm>
            <a:off x="9201150" y="3264408"/>
            <a:ext cx="208254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Flujos, alertas, tareas, cobros y reportes.</a:t>
            </a:r>
            <a:endParaRPr lang="en-US" sz="1070" dirty="0"/>
          </a:p>
        </p:txBody>
      </p:sp>
      <p:sp>
        <p:nvSpPr>
          <p:cNvPr id="29" name="Shape 25"/>
          <p:cNvSpPr/>
          <p:nvPr/>
        </p:nvSpPr>
        <p:spPr>
          <a:xfrm>
            <a:off x="960120" y="4882896"/>
            <a:ext cx="9829800" cy="713232"/>
          </a:xfrm>
          <a:prstGeom prst="roundRect">
            <a:avLst>
              <a:gd name="adj" fmla="val 16667"/>
            </a:avLst>
          </a:prstGeom>
          <a:solidFill>
            <a:srgbClr val="34D399">
              <a:alpha val="14000"/>
            </a:srgbClr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179576" y="5047488"/>
            <a:ext cx="939088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42335"/>
                </a:solidFill>
              </a:rPr>
              <a:t>Resultado</a:t>
            </a:r>
            <a:endParaRPr lang="en-US" sz="1320" dirty="0"/>
          </a:p>
        </p:txBody>
      </p:sp>
      <p:sp>
        <p:nvSpPr>
          <p:cNvPr id="31" name="Text 27"/>
          <p:cNvSpPr/>
          <p:nvPr/>
        </p:nvSpPr>
        <p:spPr>
          <a:xfrm>
            <a:off x="1179576" y="5413248"/>
            <a:ext cx="9390888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A77"/>
                </a:solidFill>
              </a:rPr>
              <a:t>Menos fricción para las personas. Más velocidad, trazabilidad y control para la empresa.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abstract_technology_business_background_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simple_logo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690" y="292608"/>
            <a:ext cx="1536748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493776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17AF2"/>
                </a:solidFill>
              </a:rPr>
              <a:t>COMUNICACIÓN ORGÁNICA</a:t>
            </a:r>
            <a:endParaRPr lang="en-US" sz="850" dirty="0"/>
          </a:p>
        </p:txBody>
      </p:sp>
      <p:sp>
        <p:nvSpPr>
          <p:cNvPr id="5" name="Shape 1"/>
          <p:cNvSpPr/>
          <p:nvPr/>
        </p:nvSpPr>
        <p:spPr>
          <a:xfrm>
            <a:off x="658368" y="6300216"/>
            <a:ext cx="10863072" cy="0"/>
          </a:xfrm>
          <a:prstGeom prst="line">
            <a:avLst/>
          </a:prstGeom>
          <a:noFill/>
          <a:ln w="12700">
            <a:solidFill>
              <a:srgbClr val="A9E6E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58368" y="6428232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A77"/>
                </a:solidFill>
              </a:rPr>
              <a:t>Simple · tu empresa aumentada por IA</a:t>
            </a:r>
            <a:endParaRPr lang="en-US" sz="780" dirty="0"/>
          </a:p>
        </p:txBody>
      </p:sp>
      <p:sp>
        <p:nvSpPr>
          <p:cNvPr id="7" name="Text 3"/>
          <p:cNvSpPr/>
          <p:nvPr/>
        </p:nvSpPr>
        <p:spPr>
          <a:xfrm>
            <a:off x="11064240" y="64282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17AF2"/>
                </a:solidFill>
              </a:rPr>
              <a:t>04</a:t>
            </a:r>
            <a:endParaRPr lang="en-US" sz="780" dirty="0"/>
          </a:p>
        </p:txBody>
      </p:sp>
      <p:sp>
        <p:nvSpPr>
          <p:cNvPr id="8" name="Text 4"/>
          <p:cNvSpPr/>
          <p:nvPr/>
        </p:nvSpPr>
        <p:spPr>
          <a:xfrm>
            <a:off x="658368" y="960120"/>
            <a:ext cx="8503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423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Simple se adapta a cómo se comunican los humanos.</a:t>
            </a:r>
            <a:endParaRPr lang="en-US" sz="3100" dirty="0"/>
          </a:p>
        </p:txBody>
      </p:sp>
      <p:sp>
        <p:nvSpPr>
          <p:cNvPr id="9" name="Text 5"/>
          <p:cNvSpPr/>
          <p:nvPr/>
        </p:nvSpPr>
        <p:spPr>
          <a:xfrm>
            <a:off x="658368" y="1792224"/>
            <a:ext cx="6949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26A77"/>
                </a:solidFill>
              </a:rPr>
              <a:t>La IA no debe obligar a las personas a cambiar de idioma. Debe entender contexto, intención, urgencia y canal.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713232" y="2770632"/>
            <a:ext cx="2448306" cy="1078992"/>
          </a:xfrm>
          <a:prstGeom prst="roundRect">
            <a:avLst>
              <a:gd name="adj" fmla="val 9322"/>
            </a:avLst>
          </a:prstGeom>
          <a:solidFill>
            <a:srgbClr val="F0FBFD"/>
          </a:solidFill>
          <a:ln w="12700">
            <a:solidFill>
              <a:srgbClr val="34D399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13232" y="2770632"/>
            <a:ext cx="64008" cy="1078992"/>
          </a:xfrm>
          <a:prstGeom prst="rect">
            <a:avLst/>
          </a:prstGeom>
          <a:solidFill>
            <a:srgbClr val="34D39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96112" y="2926080"/>
            <a:ext cx="211912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Mensaje</a:t>
            </a:r>
            <a:endParaRPr lang="en-US" sz="1220" dirty="0"/>
          </a:p>
        </p:txBody>
      </p:sp>
      <p:sp>
        <p:nvSpPr>
          <p:cNvPr id="13" name="Text 9"/>
          <p:cNvSpPr/>
          <p:nvPr/>
        </p:nvSpPr>
        <p:spPr>
          <a:xfrm>
            <a:off x="896112" y="3246120"/>
            <a:ext cx="208254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Una persona escribe, habla, consulta o pide algo.</a:t>
            </a:r>
            <a:endParaRPr lang="en-US" sz="1070" dirty="0"/>
          </a:p>
        </p:txBody>
      </p:sp>
      <p:sp>
        <p:nvSpPr>
          <p:cNvPr id="14" name="Shape 10"/>
          <p:cNvSpPr/>
          <p:nvPr/>
        </p:nvSpPr>
        <p:spPr>
          <a:xfrm>
            <a:off x="3207258" y="3310128"/>
            <a:ext cx="210312" cy="0"/>
          </a:xfrm>
          <a:prstGeom prst="line">
            <a:avLst/>
          </a:prstGeom>
          <a:noFill/>
          <a:ln w="12700">
            <a:solidFill>
              <a:srgbClr val="34D399">
                <a:alpha val="98000"/>
              </a:srgbClr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3481578" y="2770632"/>
            <a:ext cx="2448306" cy="1078992"/>
          </a:xfrm>
          <a:prstGeom prst="roundRect">
            <a:avLst>
              <a:gd name="adj" fmla="val 9322"/>
            </a:avLst>
          </a:prstGeom>
          <a:solidFill>
            <a:srgbClr val="F0FBFD"/>
          </a:solidFill>
          <a:ln w="12700">
            <a:solidFill>
              <a:srgbClr val="28C7E8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481578" y="2770632"/>
            <a:ext cx="64008" cy="1078992"/>
          </a:xfrm>
          <a:prstGeom prst="rect">
            <a:avLst/>
          </a:prstGeom>
          <a:solidFill>
            <a:srgbClr val="28C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664458" y="2926080"/>
            <a:ext cx="211912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Comprensión</a:t>
            </a:r>
            <a:endParaRPr lang="en-US" sz="1220" dirty="0"/>
          </a:p>
        </p:txBody>
      </p:sp>
      <p:sp>
        <p:nvSpPr>
          <p:cNvPr id="18" name="Text 14"/>
          <p:cNvSpPr/>
          <p:nvPr/>
        </p:nvSpPr>
        <p:spPr>
          <a:xfrm>
            <a:off x="3664458" y="3246120"/>
            <a:ext cx="208254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Simple identifica intención, datos clave y contexto.</a:t>
            </a:r>
            <a:endParaRPr lang="en-US" sz="1070" dirty="0"/>
          </a:p>
        </p:txBody>
      </p:sp>
      <p:sp>
        <p:nvSpPr>
          <p:cNvPr id="19" name="Shape 15"/>
          <p:cNvSpPr/>
          <p:nvPr/>
        </p:nvSpPr>
        <p:spPr>
          <a:xfrm>
            <a:off x="5975604" y="3310128"/>
            <a:ext cx="210312" cy="0"/>
          </a:xfrm>
          <a:prstGeom prst="line">
            <a:avLst/>
          </a:prstGeom>
          <a:noFill/>
          <a:ln w="12700">
            <a:solidFill>
              <a:srgbClr val="28C7E8">
                <a:alpha val="98000"/>
              </a:srgbClr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6249924" y="2770632"/>
            <a:ext cx="2448306" cy="1078992"/>
          </a:xfrm>
          <a:prstGeom prst="roundRect">
            <a:avLst>
              <a:gd name="adj" fmla="val 9322"/>
            </a:avLst>
          </a:prstGeom>
          <a:solidFill>
            <a:srgbClr val="F0FBFD"/>
          </a:solidFill>
          <a:ln w="12700">
            <a:solidFill>
              <a:srgbClr val="317AF2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49924" y="2770632"/>
            <a:ext cx="64008" cy="1078992"/>
          </a:xfrm>
          <a:prstGeom prst="rect">
            <a:avLst/>
          </a:prstGeom>
          <a:solidFill>
            <a:srgbClr val="317A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432804" y="2926080"/>
            <a:ext cx="211912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Coordinación</a:t>
            </a:r>
            <a:endParaRPr lang="en-US" sz="1220" dirty="0"/>
          </a:p>
        </p:txBody>
      </p:sp>
      <p:sp>
        <p:nvSpPr>
          <p:cNvPr id="23" name="Text 19"/>
          <p:cNvSpPr/>
          <p:nvPr/>
        </p:nvSpPr>
        <p:spPr>
          <a:xfrm>
            <a:off x="6432804" y="3246120"/>
            <a:ext cx="208254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Agente, bot y humano comparten la misma información.</a:t>
            </a:r>
            <a:endParaRPr lang="en-US" sz="1070" dirty="0"/>
          </a:p>
        </p:txBody>
      </p:sp>
      <p:sp>
        <p:nvSpPr>
          <p:cNvPr id="24" name="Shape 20"/>
          <p:cNvSpPr/>
          <p:nvPr/>
        </p:nvSpPr>
        <p:spPr>
          <a:xfrm>
            <a:off x="8743950" y="3310128"/>
            <a:ext cx="210312" cy="0"/>
          </a:xfrm>
          <a:prstGeom prst="line">
            <a:avLst/>
          </a:prstGeom>
          <a:noFill/>
          <a:ln w="12700">
            <a:solidFill>
              <a:srgbClr val="317AF2">
                <a:alpha val="98000"/>
              </a:srgbClr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9018270" y="2770632"/>
            <a:ext cx="2448306" cy="1078992"/>
          </a:xfrm>
          <a:prstGeom prst="roundRect">
            <a:avLst>
              <a:gd name="adj" fmla="val 9322"/>
            </a:avLst>
          </a:prstGeom>
          <a:solidFill>
            <a:srgbClr val="F0FBFD"/>
          </a:solidFill>
          <a:ln w="12700">
            <a:solidFill>
              <a:srgbClr val="6557E8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9018270" y="2770632"/>
            <a:ext cx="64008" cy="1078992"/>
          </a:xfrm>
          <a:prstGeom prst="rect">
            <a:avLst/>
          </a:prstGeom>
          <a:solidFill>
            <a:srgbClr val="655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201150" y="2926080"/>
            <a:ext cx="211912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Resolución</a:t>
            </a:r>
            <a:endParaRPr lang="en-US" sz="1220" dirty="0"/>
          </a:p>
        </p:txBody>
      </p:sp>
      <p:sp>
        <p:nvSpPr>
          <p:cNvPr id="28" name="Text 24"/>
          <p:cNvSpPr/>
          <p:nvPr/>
        </p:nvSpPr>
        <p:spPr>
          <a:xfrm>
            <a:off x="9201150" y="3246120"/>
            <a:ext cx="208254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Se responde, deriva, consulta o ejecuta un flujo.</a:t>
            </a:r>
            <a:endParaRPr lang="en-US" sz="1070" dirty="0"/>
          </a:p>
        </p:txBody>
      </p:sp>
      <p:sp>
        <p:nvSpPr>
          <p:cNvPr id="29" name="Shape 25"/>
          <p:cNvSpPr/>
          <p:nvPr/>
        </p:nvSpPr>
        <p:spPr>
          <a:xfrm>
            <a:off x="896112" y="4828032"/>
            <a:ext cx="4800600" cy="777240"/>
          </a:xfrm>
          <a:prstGeom prst="roundRect">
            <a:avLst>
              <a:gd name="adj" fmla="val 15294"/>
            </a:avLst>
          </a:prstGeom>
          <a:solidFill>
            <a:srgbClr val="34D399">
              <a:alpha val="14000"/>
            </a:srgbClr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115568" y="4992624"/>
            <a:ext cx="436168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42335"/>
                </a:solidFill>
              </a:rPr>
              <a:t>Más humano</a:t>
            </a:r>
            <a:endParaRPr lang="en-US" sz="1320" dirty="0"/>
          </a:p>
        </p:txBody>
      </p:sp>
      <p:sp>
        <p:nvSpPr>
          <p:cNvPr id="31" name="Text 27"/>
          <p:cNvSpPr/>
          <p:nvPr/>
        </p:nvSpPr>
        <p:spPr>
          <a:xfrm>
            <a:off x="1115568" y="5358384"/>
            <a:ext cx="4361688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A77"/>
                </a:solidFill>
              </a:rPr>
              <a:t>La persona aporta criterio y relación; la IA ordena, recuerda y ejecuta.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5925312" y="4828032"/>
            <a:ext cx="4800600" cy="777240"/>
          </a:xfrm>
          <a:prstGeom prst="roundRect">
            <a:avLst>
              <a:gd name="adj" fmla="val 15294"/>
            </a:avLst>
          </a:prstGeom>
          <a:solidFill>
            <a:srgbClr val="317AF2">
              <a:alpha val="14000"/>
            </a:srgbClr>
          </a:solidFill>
          <a:ln w="12700">
            <a:solidFill>
              <a:srgbClr val="317AF2">
                <a:alpha val="90000"/>
              </a:srgbClr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144768" y="4992624"/>
            <a:ext cx="436168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42335"/>
                </a:solidFill>
              </a:rPr>
              <a:t>Más eficiente</a:t>
            </a:r>
            <a:endParaRPr lang="en-US" sz="1320" dirty="0"/>
          </a:p>
        </p:txBody>
      </p:sp>
      <p:sp>
        <p:nvSpPr>
          <p:cNvPr id="34" name="Text 30"/>
          <p:cNvSpPr/>
          <p:nvPr/>
        </p:nvSpPr>
        <p:spPr>
          <a:xfrm>
            <a:off x="6144768" y="5358384"/>
            <a:ext cx="4361688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A77"/>
                </a:solidFill>
              </a:rPr>
              <a:t>Cada conversación puede convertirse en tarea, dato, venta, alerta o aprendizaje.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abstract_technology_business_background_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simple_logo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690" y="292608"/>
            <a:ext cx="1536748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493776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17AF2"/>
                </a:solidFill>
              </a:rPr>
              <a:t>AGENTES, BOTS Y COPILOTOS</a:t>
            </a:r>
            <a:endParaRPr lang="en-US" sz="850" dirty="0"/>
          </a:p>
        </p:txBody>
      </p:sp>
      <p:sp>
        <p:nvSpPr>
          <p:cNvPr id="5" name="Shape 1"/>
          <p:cNvSpPr/>
          <p:nvPr/>
        </p:nvSpPr>
        <p:spPr>
          <a:xfrm>
            <a:off x="658368" y="6300216"/>
            <a:ext cx="10863072" cy="0"/>
          </a:xfrm>
          <a:prstGeom prst="line">
            <a:avLst/>
          </a:prstGeom>
          <a:noFill/>
          <a:ln w="12700">
            <a:solidFill>
              <a:srgbClr val="A9E6EF"/>
            </a:solidFill>
            <a:prstDash val="solid"/>
          </a:ln>
        </p:spPr>
        <p:txBody>
          <a:bodyPr/>
          <a:p/>
        </p:txBody>
      </p:sp>
      <p:sp>
        <p:nvSpPr>
          <p:cNvPr id="6" name="Text 2"/>
          <p:cNvSpPr/>
          <p:nvPr/>
        </p:nvSpPr>
        <p:spPr>
          <a:xfrm>
            <a:off x="658368" y="6428232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A77"/>
                </a:solidFill>
              </a:rPr>
              <a:t>Simple · tu empresa aumentada por IA</a:t>
            </a:r>
            <a:endParaRPr lang="en-US" sz="780" dirty="0"/>
          </a:p>
        </p:txBody>
      </p:sp>
      <p:sp>
        <p:nvSpPr>
          <p:cNvPr id="7" name="Text 3"/>
          <p:cNvSpPr/>
          <p:nvPr/>
        </p:nvSpPr>
        <p:spPr>
          <a:xfrm>
            <a:off x="11064240" y="64282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17AF2"/>
                </a:solidFill>
              </a:rPr>
              <a:t>05</a:t>
            </a:r>
            <a:endParaRPr lang="en-US" sz="780" dirty="0"/>
          </a:p>
        </p:txBody>
      </p:sp>
      <p:sp>
        <p:nvSpPr>
          <p:cNvPr id="8" name="Text 4"/>
          <p:cNvSpPr/>
          <p:nvPr/>
        </p:nvSpPr>
        <p:spPr>
          <a:xfrm>
            <a:off x="658368" y="960120"/>
            <a:ext cx="8961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3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Simple no es solo IA: es un ecosistema operativo de agentes y flujos.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658368" y="1792224"/>
            <a:ext cx="74066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26A77"/>
                </a:solidFill>
              </a:rPr>
              <a:t>Cada agente tiene una función concreta, pero todos trabajan sobre el mismo contexto para que la operación se sienta natural.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749808" y="2761488"/>
            <a:ext cx="2907792" cy="941832"/>
          </a:xfrm>
          <a:prstGeom prst="roundRect">
            <a:avLst>
              <a:gd name="adj" fmla="val 10680"/>
            </a:avLst>
          </a:prstGeom>
          <a:solidFill>
            <a:srgbClr val="F0FBFD"/>
          </a:solidFill>
          <a:ln w="12700">
            <a:solidFill>
              <a:srgbClr val="34D399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749808" y="2761488"/>
            <a:ext cx="64008" cy="941832"/>
          </a:xfrm>
          <a:prstGeom prst="rect">
            <a:avLst/>
          </a:prstGeom>
          <a:solidFill>
            <a:srgbClr val="34D39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932688" y="2916936"/>
            <a:ext cx="25786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42335"/>
                </a:solidFill>
              </a:rPr>
              <a:t>Ventas</a:t>
            </a:r>
            <a:endParaRPr lang="en-US" sz="1260" dirty="0"/>
          </a:p>
        </p:txBody>
      </p:sp>
      <p:sp>
        <p:nvSpPr>
          <p:cNvPr id="13" name="Text 9"/>
          <p:cNvSpPr/>
          <p:nvPr/>
        </p:nvSpPr>
        <p:spPr>
          <a:xfrm>
            <a:off x="932688" y="3236976"/>
            <a:ext cx="254203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Seguimiento, propuestas, publicaciones y oportunidades.
→ Francisco: SDR Outbound que califica prospectos de Google Maps por WhatsApp.</a:t>
            </a:r>
            <a:endParaRPr lang="en-US" sz="1070" dirty="0"/>
          </a:p>
        </p:txBody>
      </p:sp>
      <p:sp>
        <p:nvSpPr>
          <p:cNvPr id="14" name="Shape 10"/>
          <p:cNvSpPr/>
          <p:nvPr/>
        </p:nvSpPr>
        <p:spPr>
          <a:xfrm>
            <a:off x="4425696" y="2761488"/>
            <a:ext cx="2907792" cy="941832"/>
          </a:xfrm>
          <a:prstGeom prst="roundRect">
            <a:avLst>
              <a:gd name="adj" fmla="val 10680"/>
            </a:avLst>
          </a:prstGeom>
          <a:solidFill>
            <a:srgbClr val="F0FBFD"/>
          </a:solidFill>
          <a:ln w="12700">
            <a:solidFill>
              <a:srgbClr val="28C7E8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4425696" y="2761488"/>
            <a:ext cx="64008" cy="941832"/>
          </a:xfrm>
          <a:prstGeom prst="rect">
            <a:avLst/>
          </a:prstGeom>
          <a:solidFill>
            <a:srgbClr val="28C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4608576" y="2916936"/>
            <a:ext cx="25786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42335"/>
                </a:solidFill>
              </a:rPr>
              <a:t>Soporte</a:t>
            </a:r>
            <a:endParaRPr lang="en-US" sz="1260" dirty="0"/>
          </a:p>
        </p:txBody>
      </p:sp>
      <p:sp>
        <p:nvSpPr>
          <p:cNvPr id="17" name="Text 13"/>
          <p:cNvSpPr/>
          <p:nvPr/>
        </p:nvSpPr>
        <p:spPr>
          <a:xfrm>
            <a:off x="4608576" y="3236976"/>
            <a:ext cx="254203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Clasifica, responde, deriva y deja trazabilidad.</a:t>
            </a:r>
            <a:endParaRPr lang="en-US" sz="1070" dirty="0"/>
          </a:p>
        </p:txBody>
      </p:sp>
      <p:sp>
        <p:nvSpPr>
          <p:cNvPr id="18" name="Shape 14"/>
          <p:cNvSpPr/>
          <p:nvPr/>
        </p:nvSpPr>
        <p:spPr>
          <a:xfrm>
            <a:off x="8101584" y="2761488"/>
            <a:ext cx="2907792" cy="941832"/>
          </a:xfrm>
          <a:prstGeom prst="roundRect">
            <a:avLst>
              <a:gd name="adj" fmla="val 10680"/>
            </a:avLst>
          </a:prstGeom>
          <a:solidFill>
            <a:srgbClr val="F0FBFD"/>
          </a:solidFill>
          <a:ln w="12700">
            <a:solidFill>
              <a:srgbClr val="317AF2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8101584" y="2761488"/>
            <a:ext cx="64008" cy="941832"/>
          </a:xfrm>
          <a:prstGeom prst="rect">
            <a:avLst/>
          </a:prstGeom>
          <a:solidFill>
            <a:srgbClr val="317A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8284464" y="2916936"/>
            <a:ext cx="25786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42335"/>
                </a:solidFill>
              </a:rPr>
              <a:t>Operaciones</a:t>
            </a:r>
            <a:endParaRPr lang="en-US" sz="1260" dirty="0"/>
          </a:p>
        </p:txBody>
      </p:sp>
      <p:sp>
        <p:nvSpPr>
          <p:cNvPr id="21" name="Text 17"/>
          <p:cNvSpPr/>
          <p:nvPr/>
        </p:nvSpPr>
        <p:spPr>
          <a:xfrm>
            <a:off x="8284464" y="3236976"/>
            <a:ext cx="254203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Controla estados, ejecuta workflows y alerta desvíos.</a:t>
            </a:r>
            <a:endParaRPr lang="en-US" sz="1070" dirty="0"/>
          </a:p>
        </p:txBody>
      </p:sp>
      <p:sp>
        <p:nvSpPr>
          <p:cNvPr id="22" name="Shape 18"/>
          <p:cNvSpPr/>
          <p:nvPr/>
        </p:nvSpPr>
        <p:spPr>
          <a:xfrm>
            <a:off x="749808" y="4041648"/>
            <a:ext cx="2907792" cy="941832"/>
          </a:xfrm>
          <a:prstGeom prst="roundRect">
            <a:avLst>
              <a:gd name="adj" fmla="val 10680"/>
            </a:avLst>
          </a:prstGeom>
          <a:solidFill>
            <a:srgbClr val="F0FBFD"/>
          </a:solidFill>
          <a:ln w="12700">
            <a:solidFill>
              <a:srgbClr val="6557E8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3" name="Shape 19"/>
          <p:cNvSpPr/>
          <p:nvPr/>
        </p:nvSpPr>
        <p:spPr>
          <a:xfrm>
            <a:off x="749808" y="4041648"/>
            <a:ext cx="64008" cy="941832"/>
          </a:xfrm>
          <a:prstGeom prst="rect">
            <a:avLst/>
          </a:prstGeom>
          <a:solidFill>
            <a:srgbClr val="655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0"/>
          <p:cNvSpPr/>
          <p:nvPr/>
        </p:nvSpPr>
        <p:spPr>
          <a:xfrm>
            <a:off x="932688" y="4197096"/>
            <a:ext cx="25786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42335"/>
                </a:solidFill>
              </a:rPr>
              <a:t>Administración</a:t>
            </a:r>
            <a:endParaRPr lang="en-US" sz="1260" dirty="0"/>
          </a:p>
        </p:txBody>
      </p:sp>
      <p:sp>
        <p:nvSpPr>
          <p:cNvPr id="25" name="Text 21"/>
          <p:cNvSpPr/>
          <p:nvPr/>
        </p:nvSpPr>
        <p:spPr>
          <a:xfrm>
            <a:off x="932688" y="4517136"/>
            <a:ext cx="254203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Cobros, reportes, conciliaciones y contratos.</a:t>
            </a:r>
            <a:endParaRPr lang="en-US" sz="1070" dirty="0"/>
          </a:p>
        </p:txBody>
      </p:sp>
      <p:sp>
        <p:nvSpPr>
          <p:cNvPr id="26" name="Shape 22"/>
          <p:cNvSpPr/>
          <p:nvPr/>
        </p:nvSpPr>
        <p:spPr>
          <a:xfrm>
            <a:off x="4425696" y="4041648"/>
            <a:ext cx="2907792" cy="941832"/>
          </a:xfrm>
          <a:prstGeom prst="roundRect">
            <a:avLst>
              <a:gd name="adj" fmla="val 10680"/>
            </a:avLst>
          </a:prstGeom>
          <a:solidFill>
            <a:srgbClr val="F0FBFD"/>
          </a:solidFill>
          <a:ln w="12700">
            <a:solidFill>
              <a:srgbClr val="F0B94D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7" name="Shape 23"/>
          <p:cNvSpPr/>
          <p:nvPr/>
        </p:nvSpPr>
        <p:spPr>
          <a:xfrm>
            <a:off x="4425696" y="4041648"/>
            <a:ext cx="64008" cy="941832"/>
          </a:xfrm>
          <a:prstGeom prst="rect">
            <a:avLst/>
          </a:prstGeom>
          <a:solidFill>
            <a:srgbClr val="F0B9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4"/>
          <p:cNvSpPr/>
          <p:nvPr/>
        </p:nvSpPr>
        <p:spPr>
          <a:xfrm>
            <a:off x="4608576" y="4197096"/>
            <a:ext cx="25786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42335"/>
                </a:solidFill>
              </a:rPr>
              <a:t>Bot transaccional</a:t>
            </a:r>
            <a:endParaRPr lang="en-US" sz="1260" dirty="0"/>
          </a:p>
        </p:txBody>
      </p:sp>
      <p:sp>
        <p:nvSpPr>
          <p:cNvPr id="29" name="Text 25"/>
          <p:cNvSpPr/>
          <p:nvPr/>
        </p:nvSpPr>
        <p:spPr>
          <a:xfrm>
            <a:off x="4608576" y="4517136"/>
            <a:ext cx="254203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Confirma pagos, notifica y actualiza sistemas.</a:t>
            </a:r>
            <a:endParaRPr lang="en-US" sz="1070" dirty="0"/>
          </a:p>
        </p:txBody>
      </p:sp>
      <p:sp>
        <p:nvSpPr>
          <p:cNvPr id="30" name="Shape 26"/>
          <p:cNvSpPr/>
          <p:nvPr/>
        </p:nvSpPr>
        <p:spPr>
          <a:xfrm>
            <a:off x="8101584" y="4041648"/>
            <a:ext cx="2907792" cy="941832"/>
          </a:xfrm>
          <a:prstGeom prst="roundRect">
            <a:avLst>
              <a:gd name="adj" fmla="val 10680"/>
            </a:avLst>
          </a:prstGeom>
          <a:solidFill>
            <a:srgbClr val="F0FBFD"/>
          </a:solidFill>
          <a:ln w="12700">
            <a:solidFill>
              <a:srgbClr val="16B8B6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1" name="Shape 27"/>
          <p:cNvSpPr/>
          <p:nvPr/>
        </p:nvSpPr>
        <p:spPr>
          <a:xfrm>
            <a:off x="8101584" y="4041648"/>
            <a:ext cx="64008" cy="941832"/>
          </a:xfrm>
          <a:prstGeom prst="rect">
            <a:avLst/>
          </a:prstGeom>
          <a:solidFill>
            <a:srgbClr val="16B8B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28"/>
          <p:cNvSpPr/>
          <p:nvPr/>
        </p:nvSpPr>
        <p:spPr>
          <a:xfrm>
            <a:off x="8284464" y="4197096"/>
            <a:ext cx="25786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42335"/>
                </a:solidFill>
              </a:rPr>
              <a:t>Copiloto interno</a:t>
            </a:r>
            <a:endParaRPr lang="en-US" sz="1260" dirty="0"/>
          </a:p>
        </p:txBody>
      </p:sp>
      <p:sp>
        <p:nvSpPr>
          <p:cNvPr id="33" name="Text 29"/>
          <p:cNvSpPr/>
          <p:nvPr/>
        </p:nvSpPr>
        <p:spPr>
          <a:xfrm>
            <a:off x="8284464" y="4517136"/>
            <a:ext cx="254203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Ayuda a configurar, documentar y mejorar Simple.</a:t>
            </a:r>
            <a:endParaRPr lang="en-US" sz="1070" dirty="0"/>
          </a:p>
        </p:txBody>
      </p:sp>
      <p:sp>
        <p:nvSpPr>
          <p:cNvPr id="34" name="Text 30"/>
          <p:cNvSpPr/>
          <p:nvPr/>
        </p:nvSpPr>
        <p:spPr>
          <a:xfrm>
            <a:off x="868680" y="5641848"/>
            <a:ext cx="99669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A47"/>
                </a:solidFill>
              </a:rPr>
              <a:t>Los bots resuelven lo repetitivo. Los humanos intervienen donde hay criterio. Los agentes con nombre (como Francisco) son el puente natural entre los dos mundos.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abstract_technology_business_background_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simple_logo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690" y="292608"/>
            <a:ext cx="1536748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493776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17AF2"/>
                </a:solidFill>
              </a:rPr>
              <a:t>CÓMO FUNCIONA</a:t>
            </a:r>
            <a:endParaRPr lang="en-US" sz="850" dirty="0"/>
          </a:p>
        </p:txBody>
      </p:sp>
      <p:sp>
        <p:nvSpPr>
          <p:cNvPr id="5" name="Shape 1"/>
          <p:cNvSpPr/>
          <p:nvPr/>
        </p:nvSpPr>
        <p:spPr>
          <a:xfrm>
            <a:off x="658368" y="6300216"/>
            <a:ext cx="10863072" cy="0"/>
          </a:xfrm>
          <a:prstGeom prst="line">
            <a:avLst/>
          </a:prstGeom>
          <a:noFill/>
          <a:ln w="12700">
            <a:solidFill>
              <a:srgbClr val="A9E6E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58368" y="6428232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A77"/>
                </a:solidFill>
              </a:rPr>
              <a:t>Simple · tu empresa aumentada por IA</a:t>
            </a:r>
            <a:endParaRPr lang="en-US" sz="780" dirty="0"/>
          </a:p>
        </p:txBody>
      </p:sp>
      <p:sp>
        <p:nvSpPr>
          <p:cNvPr id="7" name="Text 3"/>
          <p:cNvSpPr/>
          <p:nvPr/>
        </p:nvSpPr>
        <p:spPr>
          <a:xfrm>
            <a:off x="11064240" y="64282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17AF2"/>
                </a:solidFill>
              </a:rPr>
              <a:t>06</a:t>
            </a:r>
            <a:endParaRPr lang="en-US" sz="780" dirty="0"/>
          </a:p>
        </p:txBody>
      </p:sp>
      <p:sp>
        <p:nvSpPr>
          <p:cNvPr id="8" name="Text 4"/>
          <p:cNvSpPr/>
          <p:nvPr/>
        </p:nvSpPr>
        <p:spPr>
          <a:xfrm>
            <a:off x="658368" y="96012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50" b="1" dirty="0">
                <a:solidFill>
                  <a:srgbClr val="1423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Conectar → comprender → decidir → ejecutar → aprender.</a:t>
            </a:r>
            <a:endParaRPr lang="en-US" sz="3150" dirty="0"/>
          </a:p>
        </p:txBody>
      </p:sp>
      <p:sp>
        <p:nvSpPr>
          <p:cNvPr id="9" name="Text 5"/>
          <p:cNvSpPr/>
          <p:nvPr/>
        </p:nvSpPr>
        <p:spPr>
          <a:xfrm>
            <a:off x="658368" y="1792224"/>
            <a:ext cx="76809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526A77"/>
                </a:solidFill>
              </a:rPr>
              <a:t>El valor no está en una respuesta aislada: está en convertir cada interacción en una acción trazable y cada acción en aprendizaje.</a:t>
            </a:r>
            <a:endParaRPr lang="en-US" sz="1440" dirty="0"/>
          </a:p>
        </p:txBody>
      </p:sp>
      <p:sp>
        <p:nvSpPr>
          <p:cNvPr id="10" name="Shape 6"/>
          <p:cNvSpPr/>
          <p:nvPr/>
        </p:nvSpPr>
        <p:spPr>
          <a:xfrm>
            <a:off x="603504" y="2788920"/>
            <a:ext cx="1942186" cy="1024128"/>
          </a:xfrm>
          <a:prstGeom prst="roundRect">
            <a:avLst>
              <a:gd name="adj" fmla="val 9821"/>
            </a:avLst>
          </a:prstGeom>
          <a:solidFill>
            <a:srgbClr val="F0FBFD"/>
          </a:solidFill>
          <a:ln w="12700">
            <a:solidFill>
              <a:srgbClr val="28C7E8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03504" y="2788920"/>
            <a:ext cx="64008" cy="1024128"/>
          </a:xfrm>
          <a:prstGeom prst="rect">
            <a:avLst/>
          </a:prstGeom>
          <a:solidFill>
            <a:srgbClr val="28C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86384" y="2944368"/>
            <a:ext cx="161300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Conectar</a:t>
            </a:r>
            <a:endParaRPr lang="en-US" sz="1220" dirty="0"/>
          </a:p>
        </p:txBody>
      </p:sp>
      <p:sp>
        <p:nvSpPr>
          <p:cNvPr id="13" name="Text 9"/>
          <p:cNvSpPr/>
          <p:nvPr/>
        </p:nvSpPr>
        <p:spPr>
          <a:xfrm>
            <a:off x="786384" y="3264408"/>
            <a:ext cx="1576426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Canales, sistemas, datos y documentos.</a:t>
            </a:r>
            <a:endParaRPr lang="en-US" sz="1070" dirty="0"/>
          </a:p>
        </p:txBody>
      </p:sp>
      <p:sp>
        <p:nvSpPr>
          <p:cNvPr id="14" name="Shape 10"/>
          <p:cNvSpPr/>
          <p:nvPr/>
        </p:nvSpPr>
        <p:spPr>
          <a:xfrm>
            <a:off x="2591410" y="3300984"/>
            <a:ext cx="210312" cy="0"/>
          </a:xfrm>
          <a:prstGeom prst="line">
            <a:avLst/>
          </a:prstGeom>
          <a:noFill/>
          <a:ln w="12700">
            <a:solidFill>
              <a:srgbClr val="28C7E8">
                <a:alpha val="98000"/>
              </a:srgbClr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2865730" y="2788920"/>
            <a:ext cx="1942186" cy="1024128"/>
          </a:xfrm>
          <a:prstGeom prst="roundRect">
            <a:avLst>
              <a:gd name="adj" fmla="val 9821"/>
            </a:avLst>
          </a:prstGeom>
          <a:solidFill>
            <a:srgbClr val="F0FBFD"/>
          </a:solidFill>
          <a:ln w="12700">
            <a:solidFill>
              <a:srgbClr val="34D399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865730" y="2788920"/>
            <a:ext cx="64008" cy="1024128"/>
          </a:xfrm>
          <a:prstGeom prst="rect">
            <a:avLst/>
          </a:prstGeom>
          <a:solidFill>
            <a:srgbClr val="34D39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048610" y="2944368"/>
            <a:ext cx="161300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Comprender</a:t>
            </a:r>
            <a:endParaRPr lang="en-US" sz="1220" dirty="0"/>
          </a:p>
        </p:txBody>
      </p:sp>
      <p:sp>
        <p:nvSpPr>
          <p:cNvPr id="18" name="Text 14"/>
          <p:cNvSpPr/>
          <p:nvPr/>
        </p:nvSpPr>
        <p:spPr>
          <a:xfrm>
            <a:off x="3048610" y="3264408"/>
            <a:ext cx="1576426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Intención, contexto, reglas y prioridad.</a:t>
            </a:r>
            <a:endParaRPr lang="en-US" sz="1070" dirty="0"/>
          </a:p>
        </p:txBody>
      </p:sp>
      <p:sp>
        <p:nvSpPr>
          <p:cNvPr id="19" name="Shape 15"/>
          <p:cNvSpPr/>
          <p:nvPr/>
        </p:nvSpPr>
        <p:spPr>
          <a:xfrm>
            <a:off x="4853635" y="3300984"/>
            <a:ext cx="210312" cy="0"/>
          </a:xfrm>
          <a:prstGeom prst="line">
            <a:avLst/>
          </a:prstGeom>
          <a:noFill/>
          <a:ln w="12700">
            <a:solidFill>
              <a:srgbClr val="34D399">
                <a:alpha val="98000"/>
              </a:srgbClr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5127955" y="2788920"/>
            <a:ext cx="1942186" cy="1024128"/>
          </a:xfrm>
          <a:prstGeom prst="roundRect">
            <a:avLst>
              <a:gd name="adj" fmla="val 9821"/>
            </a:avLst>
          </a:prstGeom>
          <a:solidFill>
            <a:srgbClr val="F0FBFD"/>
          </a:solidFill>
          <a:ln w="12700">
            <a:solidFill>
              <a:srgbClr val="317AF2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127955" y="2788920"/>
            <a:ext cx="64008" cy="1024128"/>
          </a:xfrm>
          <a:prstGeom prst="rect">
            <a:avLst/>
          </a:prstGeom>
          <a:solidFill>
            <a:srgbClr val="317A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310835" y="2944368"/>
            <a:ext cx="161300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Decidir</a:t>
            </a:r>
            <a:endParaRPr lang="en-US" sz="1220" dirty="0"/>
          </a:p>
        </p:txBody>
      </p:sp>
      <p:sp>
        <p:nvSpPr>
          <p:cNvPr id="23" name="Text 19"/>
          <p:cNvSpPr/>
          <p:nvPr/>
        </p:nvSpPr>
        <p:spPr>
          <a:xfrm>
            <a:off x="5310835" y="3264408"/>
            <a:ext cx="1576426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Siguiente mejor acción con IA y criterio.</a:t>
            </a:r>
            <a:endParaRPr lang="en-US" sz="1070" dirty="0"/>
          </a:p>
        </p:txBody>
      </p:sp>
      <p:sp>
        <p:nvSpPr>
          <p:cNvPr id="24" name="Shape 20"/>
          <p:cNvSpPr/>
          <p:nvPr/>
        </p:nvSpPr>
        <p:spPr>
          <a:xfrm>
            <a:off x="7115861" y="3300984"/>
            <a:ext cx="210312" cy="0"/>
          </a:xfrm>
          <a:prstGeom prst="line">
            <a:avLst/>
          </a:prstGeom>
          <a:noFill/>
          <a:ln w="12700">
            <a:solidFill>
              <a:srgbClr val="317AF2">
                <a:alpha val="98000"/>
              </a:srgbClr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7390181" y="2788920"/>
            <a:ext cx="1942186" cy="1024128"/>
          </a:xfrm>
          <a:prstGeom prst="roundRect">
            <a:avLst>
              <a:gd name="adj" fmla="val 9821"/>
            </a:avLst>
          </a:prstGeom>
          <a:solidFill>
            <a:srgbClr val="F0FBFD"/>
          </a:solidFill>
          <a:ln w="12700">
            <a:solidFill>
              <a:srgbClr val="6557E8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7390181" y="2788920"/>
            <a:ext cx="64008" cy="1024128"/>
          </a:xfrm>
          <a:prstGeom prst="rect">
            <a:avLst/>
          </a:prstGeom>
          <a:solidFill>
            <a:srgbClr val="655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573061" y="2944368"/>
            <a:ext cx="161300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Ejecutar</a:t>
            </a:r>
            <a:endParaRPr lang="en-US" sz="1220" dirty="0"/>
          </a:p>
        </p:txBody>
      </p:sp>
      <p:sp>
        <p:nvSpPr>
          <p:cNvPr id="28" name="Text 24"/>
          <p:cNvSpPr/>
          <p:nvPr/>
        </p:nvSpPr>
        <p:spPr>
          <a:xfrm>
            <a:off x="7573061" y="3264408"/>
            <a:ext cx="1576426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Workflow, respuesta, tarea o integración.</a:t>
            </a:r>
            <a:endParaRPr lang="en-US" sz="1070" dirty="0"/>
          </a:p>
        </p:txBody>
      </p:sp>
      <p:sp>
        <p:nvSpPr>
          <p:cNvPr id="29" name="Shape 25"/>
          <p:cNvSpPr/>
          <p:nvPr/>
        </p:nvSpPr>
        <p:spPr>
          <a:xfrm>
            <a:off x="9378086" y="3300984"/>
            <a:ext cx="210312" cy="0"/>
          </a:xfrm>
          <a:prstGeom prst="line">
            <a:avLst/>
          </a:prstGeom>
          <a:noFill/>
          <a:ln w="12700">
            <a:solidFill>
              <a:srgbClr val="6557E8">
                <a:alpha val="98000"/>
              </a:srgbClr>
            </a:solidFill>
            <a:prstDash val="solid"/>
            <a:tailEnd type="triangle"/>
          </a:ln>
        </p:spPr>
      </p:sp>
      <p:sp>
        <p:nvSpPr>
          <p:cNvPr id="30" name="Shape 26"/>
          <p:cNvSpPr/>
          <p:nvPr/>
        </p:nvSpPr>
        <p:spPr>
          <a:xfrm>
            <a:off x="9652406" y="2788920"/>
            <a:ext cx="1942186" cy="1024128"/>
          </a:xfrm>
          <a:prstGeom prst="roundRect">
            <a:avLst>
              <a:gd name="adj" fmla="val 9821"/>
            </a:avLst>
          </a:prstGeom>
          <a:solidFill>
            <a:srgbClr val="F0FBFD"/>
          </a:solidFill>
          <a:ln w="12700">
            <a:solidFill>
              <a:srgbClr val="F0B94D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9652406" y="2788920"/>
            <a:ext cx="64008" cy="1024128"/>
          </a:xfrm>
          <a:prstGeom prst="rect">
            <a:avLst/>
          </a:prstGeom>
          <a:solidFill>
            <a:srgbClr val="F0B9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9835286" y="2944368"/>
            <a:ext cx="161300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Aprender</a:t>
            </a:r>
            <a:endParaRPr lang="en-US" sz="1220" dirty="0"/>
          </a:p>
        </p:txBody>
      </p:sp>
      <p:sp>
        <p:nvSpPr>
          <p:cNvPr id="33" name="Text 29"/>
          <p:cNvSpPr/>
          <p:nvPr/>
        </p:nvSpPr>
        <p:spPr>
          <a:xfrm>
            <a:off x="9835286" y="3264408"/>
            <a:ext cx="1576426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Feedback, métricas, reglas y mejora.</a:t>
            </a:r>
            <a:endParaRPr lang="en-US" sz="1070" dirty="0"/>
          </a:p>
        </p:txBody>
      </p:sp>
      <p:sp>
        <p:nvSpPr>
          <p:cNvPr id="34" name="Shape 30"/>
          <p:cNvSpPr/>
          <p:nvPr/>
        </p:nvSpPr>
        <p:spPr>
          <a:xfrm>
            <a:off x="1143000" y="4901184"/>
            <a:ext cx="9464040" cy="694944"/>
          </a:xfrm>
          <a:prstGeom prst="roundRect">
            <a:avLst>
              <a:gd name="adj" fmla="val 17105"/>
            </a:avLst>
          </a:prstGeom>
          <a:solidFill>
            <a:srgbClr val="317AF2">
              <a:alpha val="14000"/>
            </a:srgbClr>
          </a:solidFill>
          <a:ln w="12700">
            <a:solidFill>
              <a:srgbClr val="317AF2">
                <a:alpha val="9000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1362456" y="5065776"/>
            <a:ext cx="902512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42335"/>
                </a:solidFill>
              </a:rPr>
              <a:t>Simple transforma comunicación dispersa en operación coordinada.</a:t>
            </a:r>
            <a:endParaRPr lang="en-US" sz="13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abstract_technology_business_background_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simple_logo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690" y="292608"/>
            <a:ext cx="1536748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493776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17AF2"/>
                </a:solidFill>
              </a:rPr>
              <a:t>LA TRANSFORMACIÓN</a:t>
            </a:r>
            <a:endParaRPr lang="en-US" sz="850" dirty="0"/>
          </a:p>
        </p:txBody>
      </p:sp>
      <p:sp>
        <p:nvSpPr>
          <p:cNvPr id="5" name="Shape 1"/>
          <p:cNvSpPr/>
          <p:nvPr/>
        </p:nvSpPr>
        <p:spPr>
          <a:xfrm>
            <a:off x="658368" y="6300216"/>
            <a:ext cx="10863072" cy="0"/>
          </a:xfrm>
          <a:prstGeom prst="line">
            <a:avLst/>
          </a:prstGeom>
          <a:noFill/>
          <a:ln w="12700">
            <a:solidFill>
              <a:srgbClr val="A9E6E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58368" y="6428232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A77"/>
                </a:solidFill>
              </a:rPr>
              <a:t>Simple · tu empresa aumentada por IA</a:t>
            </a:r>
            <a:endParaRPr lang="en-US" sz="780" dirty="0"/>
          </a:p>
        </p:txBody>
      </p:sp>
      <p:sp>
        <p:nvSpPr>
          <p:cNvPr id="7" name="Text 3"/>
          <p:cNvSpPr/>
          <p:nvPr/>
        </p:nvSpPr>
        <p:spPr>
          <a:xfrm>
            <a:off x="11064240" y="64282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17AF2"/>
                </a:solidFill>
              </a:rPr>
              <a:t>07</a:t>
            </a:r>
            <a:endParaRPr lang="en-US" sz="780" dirty="0"/>
          </a:p>
        </p:txBody>
      </p:sp>
      <p:sp>
        <p:nvSpPr>
          <p:cNvPr id="8" name="Text 4"/>
          <p:cNvSpPr/>
          <p:nvPr/>
        </p:nvSpPr>
        <p:spPr>
          <a:xfrm>
            <a:off x="658368" y="96012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423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operación fragmentada a empresa aumentada.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658368" y="1792224"/>
            <a:ext cx="72237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26A77"/>
                </a:solidFill>
              </a:rPr>
              <a:t>La diferencia se ve en el día a día: menos tareas manuales, menos pérdida de contexto y más capacidad de respuesta.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841248" y="2761488"/>
            <a:ext cx="2926080" cy="1691640"/>
          </a:xfrm>
          <a:prstGeom prst="roundRect">
            <a:avLst>
              <a:gd name="adj" fmla="val 5946"/>
            </a:avLst>
          </a:prstGeom>
          <a:solidFill>
            <a:srgbClr val="F0FBFD"/>
          </a:solidFill>
          <a:ln w="12700">
            <a:solidFill>
              <a:srgbClr val="E76775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41248" y="2761488"/>
            <a:ext cx="64008" cy="1691640"/>
          </a:xfrm>
          <a:prstGeom prst="rect">
            <a:avLst/>
          </a:prstGeom>
          <a:solidFill>
            <a:srgbClr val="E7677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024128" y="2916936"/>
            <a:ext cx="259689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142335"/>
                </a:solidFill>
              </a:rPr>
              <a:t>Antes</a:t>
            </a:r>
            <a:endParaRPr lang="en-US" sz="1480" dirty="0"/>
          </a:p>
        </p:txBody>
      </p:sp>
      <p:sp>
        <p:nvSpPr>
          <p:cNvPr id="13" name="Text 9"/>
          <p:cNvSpPr/>
          <p:nvPr/>
        </p:nvSpPr>
        <p:spPr>
          <a:xfrm>
            <a:off x="1024128" y="3236976"/>
            <a:ext cx="2560320" cy="11612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Mensajes perdidos</a:t>
            </a:r>
            <a:endParaRPr lang="en-US" sz="1070" dirty="0"/>
          </a:p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Copy/paste entre sistemas</a:t>
            </a:r>
            <a:endParaRPr lang="en-US" sz="1070" dirty="0"/>
          </a:p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Reportes tardíos</a:t>
            </a:r>
            <a:endParaRPr lang="en-US" sz="1070" dirty="0"/>
          </a:p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Decisiones con datos incompletos</a:t>
            </a:r>
            <a:endParaRPr lang="en-US" sz="1070" dirty="0"/>
          </a:p>
        </p:txBody>
      </p:sp>
      <p:sp>
        <p:nvSpPr>
          <p:cNvPr id="14" name="Shape 10"/>
          <p:cNvSpPr/>
          <p:nvPr/>
        </p:nvSpPr>
        <p:spPr>
          <a:xfrm>
            <a:off x="4005072" y="3611880"/>
            <a:ext cx="1133856" cy="0"/>
          </a:xfrm>
          <a:prstGeom prst="line">
            <a:avLst/>
          </a:prstGeom>
          <a:noFill/>
          <a:ln w="12700">
            <a:solidFill>
              <a:srgbClr val="28C7E8">
                <a:alpha val="98000"/>
              </a:srgbClr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5413248" y="2761488"/>
            <a:ext cx="2926080" cy="1691640"/>
          </a:xfrm>
          <a:prstGeom prst="roundRect">
            <a:avLst>
              <a:gd name="adj" fmla="val 5946"/>
            </a:avLst>
          </a:prstGeom>
          <a:solidFill>
            <a:srgbClr val="F0FBFD"/>
          </a:solidFill>
          <a:ln w="12700">
            <a:solidFill>
              <a:srgbClr val="317AF2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13248" y="2761488"/>
            <a:ext cx="64008" cy="1691640"/>
          </a:xfrm>
          <a:prstGeom prst="rect">
            <a:avLst/>
          </a:prstGeom>
          <a:solidFill>
            <a:srgbClr val="317A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596128" y="2916936"/>
            <a:ext cx="259689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142335"/>
                </a:solidFill>
              </a:rPr>
              <a:t>Con Simple</a:t>
            </a:r>
            <a:endParaRPr lang="en-US" sz="1480" dirty="0"/>
          </a:p>
        </p:txBody>
      </p:sp>
      <p:sp>
        <p:nvSpPr>
          <p:cNvPr id="18" name="Text 14"/>
          <p:cNvSpPr/>
          <p:nvPr/>
        </p:nvSpPr>
        <p:spPr>
          <a:xfrm>
            <a:off x="5596128" y="3236976"/>
            <a:ext cx="2560320" cy="11612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Contexto unificado</a:t>
            </a:r>
            <a:endParaRPr lang="en-US" sz="1070" dirty="0"/>
          </a:p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Agentes coordinados</a:t>
            </a:r>
            <a:endParaRPr lang="en-US" sz="1070" dirty="0"/>
          </a:p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Flujos automáticos</a:t>
            </a:r>
            <a:endParaRPr lang="en-US" sz="1070" dirty="0"/>
          </a:p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Trazabilidad y aprendizaje</a:t>
            </a:r>
            <a:endParaRPr lang="en-US" sz="1070" dirty="0"/>
          </a:p>
        </p:txBody>
      </p:sp>
      <p:sp>
        <p:nvSpPr>
          <p:cNvPr id="19" name="Shape 15"/>
          <p:cNvSpPr/>
          <p:nvPr/>
        </p:nvSpPr>
        <p:spPr>
          <a:xfrm>
            <a:off x="8577072" y="3611880"/>
            <a:ext cx="969264" cy="0"/>
          </a:xfrm>
          <a:prstGeom prst="line">
            <a:avLst/>
          </a:prstGeom>
          <a:noFill/>
          <a:ln w="12700">
            <a:solidFill>
              <a:srgbClr val="34D399">
                <a:alpha val="98000"/>
              </a:srgbClr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9784080" y="2761488"/>
            <a:ext cx="1508760" cy="1691640"/>
          </a:xfrm>
          <a:prstGeom prst="roundRect">
            <a:avLst>
              <a:gd name="adj" fmla="val 6667"/>
            </a:avLst>
          </a:prstGeom>
          <a:solidFill>
            <a:srgbClr val="F0FBFD"/>
          </a:solidFill>
          <a:ln w="12700">
            <a:solidFill>
              <a:srgbClr val="34D399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9784080" y="2761488"/>
            <a:ext cx="64008" cy="1691640"/>
          </a:xfrm>
          <a:prstGeom prst="rect">
            <a:avLst/>
          </a:prstGeom>
          <a:solidFill>
            <a:srgbClr val="34D39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966960" y="2916936"/>
            <a:ext cx="11795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335"/>
                </a:solidFill>
              </a:rPr>
              <a:t>Después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9966960" y="3236976"/>
            <a:ext cx="1143000" cy="11612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Más control</a:t>
            </a:r>
            <a:endParaRPr lang="en-US" sz="1070" dirty="0"/>
          </a:p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Más velocidad</a:t>
            </a:r>
            <a:endParaRPr lang="en-US" sz="1070" dirty="0"/>
          </a:p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Más foco humano</a:t>
            </a:r>
            <a:endParaRPr lang="en-US" sz="1070" dirty="0"/>
          </a:p>
        </p:txBody>
      </p:sp>
      <p:sp>
        <p:nvSpPr>
          <p:cNvPr id="24" name="Text 20"/>
          <p:cNvSpPr/>
          <p:nvPr/>
        </p:nvSpPr>
        <p:spPr>
          <a:xfrm>
            <a:off x="896112" y="5257800"/>
            <a:ext cx="87782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0B2A47"/>
                </a:solidFill>
              </a:rPr>
              <a:t>La empresa no se vuelve más compleja: se vuelve más inteligente.</a:t>
            </a:r>
            <a:endParaRPr lang="en-US" sz="1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abstract_technology_business_background_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simple_logo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690" y="292608"/>
            <a:ext cx="1536748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493776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17AF2"/>
                </a:solidFill>
              </a:rPr>
              <a:t>CASO DE USO</a:t>
            </a:r>
            <a:endParaRPr lang="en-US" sz="850" dirty="0"/>
          </a:p>
        </p:txBody>
      </p:sp>
      <p:sp>
        <p:nvSpPr>
          <p:cNvPr id="5" name="Shape 1"/>
          <p:cNvSpPr/>
          <p:nvPr/>
        </p:nvSpPr>
        <p:spPr>
          <a:xfrm>
            <a:off x="658368" y="6300216"/>
            <a:ext cx="10863072" cy="0"/>
          </a:xfrm>
          <a:prstGeom prst="line">
            <a:avLst/>
          </a:prstGeom>
          <a:noFill/>
          <a:ln w="12700">
            <a:solidFill>
              <a:srgbClr val="A9E6EF"/>
            </a:solidFill>
            <a:prstDash val="solid"/>
          </a:ln>
        </p:spPr>
        <p:txBody>
          <a:bodyPr/>
          <a:p/>
        </p:txBody>
      </p:sp>
      <p:sp>
        <p:nvSpPr>
          <p:cNvPr id="6" name="Text 2"/>
          <p:cNvSpPr/>
          <p:nvPr/>
        </p:nvSpPr>
        <p:spPr>
          <a:xfrm>
            <a:off x="658368" y="6428232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A77"/>
                </a:solidFill>
              </a:rPr>
              <a:t>Simple · tu empresa aumentada por IA</a:t>
            </a:r>
            <a:endParaRPr lang="en-US" sz="780" dirty="0"/>
          </a:p>
        </p:txBody>
      </p:sp>
      <p:sp>
        <p:nvSpPr>
          <p:cNvPr id="7" name="Text 3"/>
          <p:cNvSpPr/>
          <p:nvPr/>
        </p:nvSpPr>
        <p:spPr>
          <a:xfrm>
            <a:off x="11064240" y="64282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17AF2"/>
                </a:solidFill>
              </a:rPr>
              <a:t>08</a:t>
            </a:r>
            <a:endParaRPr lang="en-US" sz="780" dirty="0"/>
          </a:p>
        </p:txBody>
      </p:sp>
      <p:sp>
        <p:nvSpPr>
          <p:cNvPr id="8" name="Text 4"/>
          <p:cNvSpPr/>
          <p:nvPr/>
        </p:nvSpPr>
        <p:spPr>
          <a:xfrm>
            <a:off x="658368" y="960120"/>
            <a:ext cx="8961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3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Francisco en acción: de Google Maps al CRM sin intervención humana.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658368" y="1792224"/>
            <a:ext cx="74066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26A77"/>
                </a:solidFill>
              </a:rPr>
              <a:t>Brainiac extrae negocios de Google Maps, los enriquece y se los entrega a Francisco. Francisco contacta por WhatsApp, califica con preguntas naturales y registra todo en el CRM automáticamente.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03504" y="2788920"/>
            <a:ext cx="1942186" cy="1024128"/>
          </a:xfrm>
          <a:prstGeom prst="roundRect">
            <a:avLst>
              <a:gd name="adj" fmla="val 9821"/>
            </a:avLst>
          </a:prstGeom>
          <a:solidFill>
            <a:srgbClr val="F0FBFD"/>
          </a:solidFill>
          <a:ln w="12700">
            <a:solidFill>
              <a:srgbClr val="28C7E8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603504" y="2788920"/>
            <a:ext cx="64008" cy="1024128"/>
          </a:xfrm>
          <a:prstGeom prst="rect">
            <a:avLst/>
          </a:prstGeom>
          <a:solidFill>
            <a:srgbClr val="28C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786384" y="2944368"/>
            <a:ext cx="161300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Producto</a:t>
            </a:r>
            <a:endParaRPr lang="en-US" sz="1220" dirty="0"/>
          </a:p>
        </p:txBody>
      </p:sp>
      <p:sp>
        <p:nvSpPr>
          <p:cNvPr id="13" name="Text 9"/>
          <p:cNvSpPr/>
          <p:nvPr/>
        </p:nvSpPr>
        <p:spPr>
          <a:xfrm>
            <a:off x="786384" y="3264408"/>
            <a:ext cx="1576426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Google Maps</a:t>
            </a:r>
            <a:endParaRPr lang="en-US" sz="1070" dirty="0"/>
          </a:p>
        </p:txBody>
      </p:sp>
      <p:sp>
        <p:nvSpPr>
          <p:cNvPr id="14" name="Shape 10"/>
          <p:cNvSpPr/>
          <p:nvPr/>
        </p:nvSpPr>
        <p:spPr>
          <a:xfrm>
            <a:off x="2591410" y="3300984"/>
            <a:ext cx="210312" cy="0"/>
          </a:xfrm>
          <a:prstGeom prst="line">
            <a:avLst/>
          </a:prstGeom>
          <a:noFill/>
          <a:ln w="12700">
            <a:solidFill>
              <a:srgbClr val="28C7E8">
                <a:alpha val="98000"/>
              </a:srgbClr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2865730" y="2788920"/>
            <a:ext cx="1942186" cy="1024128"/>
          </a:xfrm>
          <a:prstGeom prst="roundRect">
            <a:avLst>
              <a:gd name="adj" fmla="val 9821"/>
            </a:avLst>
          </a:prstGeom>
          <a:solidFill>
            <a:srgbClr val="F0FBFD"/>
          </a:solidFill>
          <a:ln w="12700">
            <a:solidFill>
              <a:srgbClr val="6557E8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2865730" y="2788920"/>
            <a:ext cx="64008" cy="1024128"/>
          </a:xfrm>
          <a:prstGeom prst="rect">
            <a:avLst/>
          </a:prstGeom>
          <a:solidFill>
            <a:srgbClr val="655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3048610" y="2944368"/>
            <a:ext cx="161300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Brainiac</a:t>
            </a:r>
            <a:endParaRPr lang="en-US" sz="1220" dirty="0"/>
          </a:p>
        </p:txBody>
      </p:sp>
      <p:sp>
        <p:nvSpPr>
          <p:cNvPr id="18" name="Text 14"/>
          <p:cNvSpPr/>
          <p:nvPr/>
        </p:nvSpPr>
        <p:spPr>
          <a:xfrm>
            <a:off x="3048610" y="3264408"/>
            <a:ext cx="1576426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Enriquece y prioriza el lead: rubro, ciudad, teléfono.</a:t>
            </a:r>
            <a:endParaRPr lang="en-US" sz="1070" dirty="0"/>
          </a:p>
        </p:txBody>
      </p:sp>
      <p:sp>
        <p:nvSpPr>
          <p:cNvPr id="19" name="Shape 15"/>
          <p:cNvSpPr/>
          <p:nvPr/>
        </p:nvSpPr>
        <p:spPr>
          <a:xfrm>
            <a:off x="4853635" y="3300984"/>
            <a:ext cx="210312" cy="0"/>
          </a:xfrm>
          <a:prstGeom prst="line">
            <a:avLst/>
          </a:prstGeom>
          <a:noFill/>
          <a:ln w="12700">
            <a:solidFill>
              <a:srgbClr val="6557E8">
                <a:alpha val="98000"/>
              </a:srgbClr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5127955" y="2788920"/>
            <a:ext cx="1942186" cy="1024128"/>
          </a:xfrm>
          <a:prstGeom prst="roundRect">
            <a:avLst>
              <a:gd name="adj" fmla="val 9821"/>
            </a:avLst>
          </a:prstGeom>
          <a:solidFill>
            <a:srgbClr val="F0FBFD"/>
          </a:solidFill>
          <a:ln w="12700">
            <a:solidFill>
              <a:srgbClr val="317AF2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7"/>
          <p:cNvSpPr/>
          <p:nvPr/>
        </p:nvSpPr>
        <p:spPr>
          <a:xfrm>
            <a:off x="5127955" y="2788920"/>
            <a:ext cx="64008" cy="1024128"/>
          </a:xfrm>
          <a:prstGeom prst="rect">
            <a:avLst/>
          </a:prstGeom>
          <a:solidFill>
            <a:srgbClr val="317A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8"/>
          <p:cNvSpPr/>
          <p:nvPr/>
        </p:nvSpPr>
        <p:spPr>
          <a:xfrm>
            <a:off x="5310835" y="2944368"/>
            <a:ext cx="161300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Publica</a:t>
            </a:r>
            <a:endParaRPr lang="en-US" sz="1220" dirty="0"/>
          </a:p>
        </p:txBody>
      </p:sp>
      <p:sp>
        <p:nvSpPr>
          <p:cNvPr id="23" name="Text 19"/>
          <p:cNvSpPr/>
          <p:nvPr/>
        </p:nvSpPr>
        <p:spPr>
          <a:xfrm>
            <a:off x="5310835" y="3264408"/>
            <a:ext cx="1576426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WhatsApp → Francisco inicia la conversación.</a:t>
            </a:r>
            <a:endParaRPr lang="en-US" sz="1070" dirty="0"/>
          </a:p>
        </p:txBody>
      </p:sp>
      <p:sp>
        <p:nvSpPr>
          <p:cNvPr id="24" name="Shape 20"/>
          <p:cNvSpPr/>
          <p:nvPr/>
        </p:nvSpPr>
        <p:spPr>
          <a:xfrm>
            <a:off x="7115861" y="3300984"/>
            <a:ext cx="210312" cy="0"/>
          </a:xfrm>
          <a:prstGeom prst="line">
            <a:avLst/>
          </a:prstGeom>
          <a:noFill/>
          <a:ln w="12700">
            <a:solidFill>
              <a:srgbClr val="317AF2">
                <a:alpha val="98000"/>
              </a:srgbClr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5" name="Shape 21"/>
          <p:cNvSpPr/>
          <p:nvPr/>
        </p:nvSpPr>
        <p:spPr>
          <a:xfrm>
            <a:off x="7390181" y="2788920"/>
            <a:ext cx="1942186" cy="1024128"/>
          </a:xfrm>
          <a:prstGeom prst="roundRect">
            <a:avLst>
              <a:gd name="adj" fmla="val 9821"/>
            </a:avLst>
          </a:prstGeom>
          <a:solidFill>
            <a:srgbClr val="F0FBFD"/>
          </a:solidFill>
          <a:ln w="12700">
            <a:solidFill>
              <a:srgbClr val="34D399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6" name="Shape 22"/>
          <p:cNvSpPr/>
          <p:nvPr/>
        </p:nvSpPr>
        <p:spPr>
          <a:xfrm>
            <a:off x="7390181" y="2788920"/>
            <a:ext cx="64008" cy="1024128"/>
          </a:xfrm>
          <a:prstGeom prst="rect">
            <a:avLst/>
          </a:prstGeom>
          <a:solidFill>
            <a:srgbClr val="34D39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3"/>
          <p:cNvSpPr/>
          <p:nvPr/>
        </p:nvSpPr>
        <p:spPr>
          <a:xfrm>
            <a:off x="7573061" y="2944368"/>
            <a:ext cx="161300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Conversación</a:t>
            </a:r>
            <a:endParaRPr lang="en-US" sz="1220" dirty="0"/>
          </a:p>
        </p:txBody>
      </p:sp>
      <p:sp>
        <p:nvSpPr>
          <p:cNvPr id="28" name="Text 24"/>
          <p:cNvSpPr/>
          <p:nvPr/>
        </p:nvSpPr>
        <p:spPr>
          <a:xfrm>
            <a:off x="7573061" y="3264408"/>
            <a:ext cx="1576426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Francisco hace las preguntas de calificación.</a:t>
            </a:r>
            <a:endParaRPr lang="en-US" sz="1070" dirty="0"/>
          </a:p>
        </p:txBody>
      </p:sp>
      <p:sp>
        <p:nvSpPr>
          <p:cNvPr id="29" name="Shape 25"/>
          <p:cNvSpPr/>
          <p:nvPr/>
        </p:nvSpPr>
        <p:spPr>
          <a:xfrm>
            <a:off x="9378086" y="3300984"/>
            <a:ext cx="210312" cy="0"/>
          </a:xfrm>
          <a:prstGeom prst="line">
            <a:avLst/>
          </a:prstGeom>
          <a:noFill/>
          <a:ln w="12700">
            <a:solidFill>
              <a:srgbClr val="34D399">
                <a:alpha val="98000"/>
              </a:srgbClr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0" name="Shape 26"/>
          <p:cNvSpPr/>
          <p:nvPr/>
        </p:nvSpPr>
        <p:spPr>
          <a:xfrm>
            <a:off x="9652406" y="2788920"/>
            <a:ext cx="1942186" cy="1024128"/>
          </a:xfrm>
          <a:prstGeom prst="roundRect">
            <a:avLst>
              <a:gd name="adj" fmla="val 9821"/>
            </a:avLst>
          </a:prstGeom>
          <a:solidFill>
            <a:srgbClr val="F0FBFD"/>
          </a:solidFill>
          <a:ln w="12700">
            <a:solidFill>
              <a:srgbClr val="F0B94D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1" name="Shape 27"/>
          <p:cNvSpPr/>
          <p:nvPr/>
        </p:nvSpPr>
        <p:spPr>
          <a:xfrm>
            <a:off x="9652406" y="2788920"/>
            <a:ext cx="64008" cy="1024128"/>
          </a:xfrm>
          <a:prstGeom prst="rect">
            <a:avLst/>
          </a:prstGeom>
          <a:solidFill>
            <a:srgbClr val="F0B9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28"/>
          <p:cNvSpPr/>
          <p:nvPr/>
        </p:nvSpPr>
        <p:spPr>
          <a:xfrm>
            <a:off x="9835286" y="2944368"/>
            <a:ext cx="161300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Entrega</a:t>
            </a:r>
            <a:endParaRPr lang="en-US" sz="1220" dirty="0"/>
          </a:p>
        </p:txBody>
      </p:sp>
      <p:sp>
        <p:nvSpPr>
          <p:cNvPr id="33" name="Text 29"/>
          <p:cNvSpPr/>
          <p:nvPr/>
        </p:nvSpPr>
        <p:spPr>
          <a:xfrm>
            <a:off x="9835286" y="3264408"/>
            <a:ext cx="1576426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Lead calificado registrado en CRM con score automático.</a:t>
            </a:r>
            <a:endParaRPr lang="en-US" sz="1070" dirty="0"/>
          </a:p>
        </p:txBody>
      </p:sp>
      <p:sp>
        <p:nvSpPr>
          <p:cNvPr id="34" name="Shape 30"/>
          <p:cNvSpPr/>
          <p:nvPr/>
        </p:nvSpPr>
        <p:spPr>
          <a:xfrm>
            <a:off x="1143000" y="4882896"/>
            <a:ext cx="9464040" cy="713232"/>
          </a:xfrm>
          <a:prstGeom prst="roundRect">
            <a:avLst>
              <a:gd name="adj" fmla="val 16667"/>
            </a:avLst>
          </a:prstGeom>
          <a:solidFill>
            <a:srgbClr val="34D399">
              <a:alpha val="14000"/>
            </a:srgbClr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1"/>
          <p:cNvSpPr/>
          <p:nvPr/>
        </p:nvSpPr>
        <p:spPr>
          <a:xfrm>
            <a:off x="1362456" y="5047488"/>
            <a:ext cx="902512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42335"/>
                </a:solidFill>
              </a:rPr>
              <a:t>Lo deseable</a:t>
            </a:r>
            <a:endParaRPr lang="en-US" sz="1320" dirty="0"/>
          </a:p>
        </p:txBody>
      </p:sp>
      <p:sp>
        <p:nvSpPr>
          <p:cNvPr id="36" name="Text 32"/>
          <p:cNvSpPr/>
          <p:nvPr/>
        </p:nvSpPr>
        <p:spPr>
          <a:xfrm>
            <a:off x="1362456" y="5413248"/>
            <a:ext cx="9025128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A77"/>
                </a:solidFill>
              </a:rPr>
              <a:t>Un SDR humano contacta ~50 leads/día. Francisco contacta 500+ con la misma calidad y consistencia, 24/7.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abstract_technology_business_background_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simple_logo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690" y="292608"/>
            <a:ext cx="1536748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493776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17AF2"/>
                </a:solidFill>
              </a:rPr>
              <a:t>CASO DE USO</a:t>
            </a:r>
            <a:endParaRPr lang="en-US" sz="850" dirty="0"/>
          </a:p>
        </p:txBody>
      </p:sp>
      <p:sp>
        <p:nvSpPr>
          <p:cNvPr id="5" name="Shape 1"/>
          <p:cNvSpPr/>
          <p:nvPr/>
        </p:nvSpPr>
        <p:spPr>
          <a:xfrm>
            <a:off x="658368" y="6300216"/>
            <a:ext cx="10863072" cy="0"/>
          </a:xfrm>
          <a:prstGeom prst="line">
            <a:avLst/>
          </a:prstGeom>
          <a:noFill/>
          <a:ln w="12700">
            <a:solidFill>
              <a:srgbClr val="A9E6E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58368" y="6428232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A77"/>
                </a:solidFill>
              </a:rPr>
              <a:t>Simple · tu empresa aumentada por IA</a:t>
            </a:r>
            <a:endParaRPr lang="en-US" sz="780" dirty="0"/>
          </a:p>
        </p:txBody>
      </p:sp>
      <p:sp>
        <p:nvSpPr>
          <p:cNvPr id="7" name="Text 3"/>
          <p:cNvSpPr/>
          <p:nvPr/>
        </p:nvSpPr>
        <p:spPr>
          <a:xfrm>
            <a:off x="11064240" y="64282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17AF2"/>
                </a:solidFill>
              </a:rPr>
              <a:t>09</a:t>
            </a:r>
            <a:endParaRPr lang="en-US" sz="780" dirty="0"/>
          </a:p>
        </p:txBody>
      </p:sp>
      <p:sp>
        <p:nvSpPr>
          <p:cNvPr id="8" name="Text 4"/>
          <p:cNvSpPr/>
          <p:nvPr/>
        </p:nvSpPr>
        <p:spPr>
          <a:xfrm>
            <a:off x="658368" y="96012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50" b="1" dirty="0">
                <a:solidFill>
                  <a:srgbClr val="1423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WhatsApp se convierte en una entrada ordenada a la operación.</a:t>
            </a:r>
            <a:endParaRPr lang="en-US" sz="3050" dirty="0"/>
          </a:p>
        </p:txBody>
      </p:sp>
      <p:sp>
        <p:nvSpPr>
          <p:cNvPr id="9" name="Text 5"/>
          <p:cNvSpPr/>
          <p:nvPr/>
        </p:nvSpPr>
        <p:spPr>
          <a:xfrm>
            <a:off x="658368" y="1792224"/>
            <a:ext cx="74066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26A77"/>
                </a:solidFill>
              </a:rPr>
              <a:t>No se trata solo de responder mensajes: se trata de entender intención, buscar contexto y ejecutar la acción correcta.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713232" y="2788920"/>
            <a:ext cx="2448306" cy="1078992"/>
          </a:xfrm>
          <a:prstGeom prst="roundRect">
            <a:avLst>
              <a:gd name="adj" fmla="val 9322"/>
            </a:avLst>
          </a:prstGeom>
          <a:solidFill>
            <a:srgbClr val="F0FBFD"/>
          </a:solidFill>
          <a:ln w="12700">
            <a:solidFill>
              <a:srgbClr val="34D399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13232" y="2788920"/>
            <a:ext cx="64008" cy="1078992"/>
          </a:xfrm>
          <a:prstGeom prst="rect">
            <a:avLst/>
          </a:prstGeom>
          <a:solidFill>
            <a:srgbClr val="34D39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96112" y="2944368"/>
            <a:ext cx="211912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Cliente escribe</a:t>
            </a:r>
            <a:endParaRPr lang="en-US" sz="1220" dirty="0"/>
          </a:p>
        </p:txBody>
      </p:sp>
      <p:sp>
        <p:nvSpPr>
          <p:cNvPr id="13" name="Text 9"/>
          <p:cNvSpPr/>
          <p:nvPr/>
        </p:nvSpPr>
        <p:spPr>
          <a:xfrm>
            <a:off x="896112" y="3264408"/>
            <a:ext cx="208254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Consulta, pedido, reclamo o pago.</a:t>
            </a:r>
            <a:endParaRPr lang="en-US" sz="1070" dirty="0"/>
          </a:p>
        </p:txBody>
      </p:sp>
      <p:sp>
        <p:nvSpPr>
          <p:cNvPr id="14" name="Shape 10"/>
          <p:cNvSpPr/>
          <p:nvPr/>
        </p:nvSpPr>
        <p:spPr>
          <a:xfrm>
            <a:off x="3207258" y="3328416"/>
            <a:ext cx="210312" cy="0"/>
          </a:xfrm>
          <a:prstGeom prst="line">
            <a:avLst/>
          </a:prstGeom>
          <a:noFill/>
          <a:ln w="12700">
            <a:solidFill>
              <a:srgbClr val="34D399">
                <a:alpha val="98000"/>
              </a:srgbClr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3481578" y="2788920"/>
            <a:ext cx="2448306" cy="1078992"/>
          </a:xfrm>
          <a:prstGeom prst="roundRect">
            <a:avLst>
              <a:gd name="adj" fmla="val 9322"/>
            </a:avLst>
          </a:prstGeom>
          <a:solidFill>
            <a:srgbClr val="F0FBFD"/>
          </a:solidFill>
          <a:ln w="12700">
            <a:solidFill>
              <a:srgbClr val="28C7E8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481578" y="2788920"/>
            <a:ext cx="64008" cy="1078992"/>
          </a:xfrm>
          <a:prstGeom prst="rect">
            <a:avLst/>
          </a:prstGeom>
          <a:solidFill>
            <a:srgbClr val="28C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664458" y="2944368"/>
            <a:ext cx="211912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Simple entiende</a:t>
            </a:r>
            <a:endParaRPr lang="en-US" sz="1220" dirty="0"/>
          </a:p>
        </p:txBody>
      </p:sp>
      <p:sp>
        <p:nvSpPr>
          <p:cNvPr id="18" name="Text 14"/>
          <p:cNvSpPr/>
          <p:nvPr/>
        </p:nvSpPr>
        <p:spPr>
          <a:xfrm>
            <a:off x="3664458" y="3264408"/>
            <a:ext cx="208254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Detecta intención y urgencia.</a:t>
            </a:r>
            <a:endParaRPr lang="en-US" sz="1070" dirty="0"/>
          </a:p>
        </p:txBody>
      </p:sp>
      <p:sp>
        <p:nvSpPr>
          <p:cNvPr id="19" name="Shape 15"/>
          <p:cNvSpPr/>
          <p:nvPr/>
        </p:nvSpPr>
        <p:spPr>
          <a:xfrm>
            <a:off x="5975604" y="3328416"/>
            <a:ext cx="210312" cy="0"/>
          </a:xfrm>
          <a:prstGeom prst="line">
            <a:avLst/>
          </a:prstGeom>
          <a:noFill/>
          <a:ln w="12700">
            <a:solidFill>
              <a:srgbClr val="28C7E8">
                <a:alpha val="98000"/>
              </a:srgbClr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6249924" y="2788920"/>
            <a:ext cx="2448306" cy="1078992"/>
          </a:xfrm>
          <a:prstGeom prst="roundRect">
            <a:avLst>
              <a:gd name="adj" fmla="val 9322"/>
            </a:avLst>
          </a:prstGeom>
          <a:solidFill>
            <a:srgbClr val="F0FBFD"/>
          </a:solidFill>
          <a:ln w="12700">
            <a:solidFill>
              <a:srgbClr val="317AF2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49924" y="2788920"/>
            <a:ext cx="64008" cy="1078992"/>
          </a:xfrm>
          <a:prstGeom prst="rect">
            <a:avLst/>
          </a:prstGeom>
          <a:solidFill>
            <a:srgbClr val="317A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432804" y="2944368"/>
            <a:ext cx="211912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Busca contexto</a:t>
            </a:r>
            <a:endParaRPr lang="en-US" sz="1220" dirty="0"/>
          </a:p>
        </p:txBody>
      </p:sp>
      <p:sp>
        <p:nvSpPr>
          <p:cNvPr id="23" name="Text 19"/>
          <p:cNvSpPr/>
          <p:nvPr/>
        </p:nvSpPr>
        <p:spPr>
          <a:xfrm>
            <a:off x="6432804" y="3264408"/>
            <a:ext cx="208254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CRM, ERP, pagos, stock o historial.</a:t>
            </a:r>
            <a:endParaRPr lang="en-US" sz="1070" dirty="0"/>
          </a:p>
        </p:txBody>
      </p:sp>
      <p:sp>
        <p:nvSpPr>
          <p:cNvPr id="24" name="Shape 20"/>
          <p:cNvSpPr/>
          <p:nvPr/>
        </p:nvSpPr>
        <p:spPr>
          <a:xfrm>
            <a:off x="8743950" y="3328416"/>
            <a:ext cx="210312" cy="0"/>
          </a:xfrm>
          <a:prstGeom prst="line">
            <a:avLst/>
          </a:prstGeom>
          <a:noFill/>
          <a:ln w="12700">
            <a:solidFill>
              <a:srgbClr val="317AF2">
                <a:alpha val="98000"/>
              </a:srgbClr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9018270" y="2788920"/>
            <a:ext cx="2448306" cy="1078992"/>
          </a:xfrm>
          <a:prstGeom prst="roundRect">
            <a:avLst>
              <a:gd name="adj" fmla="val 9322"/>
            </a:avLst>
          </a:prstGeom>
          <a:solidFill>
            <a:srgbClr val="F0FBFD"/>
          </a:solidFill>
          <a:ln w="12700">
            <a:solidFill>
              <a:srgbClr val="6557E8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9018270" y="2788920"/>
            <a:ext cx="64008" cy="1078992"/>
          </a:xfrm>
          <a:prstGeom prst="rect">
            <a:avLst/>
          </a:prstGeom>
          <a:solidFill>
            <a:srgbClr val="655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201150" y="2944368"/>
            <a:ext cx="211912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Acciona</a:t>
            </a:r>
            <a:endParaRPr lang="en-US" sz="1220" dirty="0"/>
          </a:p>
        </p:txBody>
      </p:sp>
      <p:sp>
        <p:nvSpPr>
          <p:cNvPr id="28" name="Text 24"/>
          <p:cNvSpPr/>
          <p:nvPr/>
        </p:nvSpPr>
        <p:spPr>
          <a:xfrm>
            <a:off x="9201150" y="3264408"/>
            <a:ext cx="208254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Responde, crea tarea, deriva o ejecuta.</a:t>
            </a:r>
            <a:endParaRPr lang="en-US" sz="1070" dirty="0"/>
          </a:p>
        </p:txBody>
      </p:sp>
      <p:sp>
        <p:nvSpPr>
          <p:cNvPr id="29" name="Shape 25"/>
          <p:cNvSpPr/>
          <p:nvPr/>
        </p:nvSpPr>
        <p:spPr>
          <a:xfrm>
            <a:off x="960120" y="4882896"/>
            <a:ext cx="4526280" cy="713232"/>
          </a:xfrm>
          <a:prstGeom prst="roundRect">
            <a:avLst>
              <a:gd name="adj" fmla="val 16667"/>
            </a:avLst>
          </a:prstGeom>
          <a:solidFill>
            <a:srgbClr val="34D399">
              <a:alpha val="14000"/>
            </a:srgbClr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179576" y="5047488"/>
            <a:ext cx="408736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42335"/>
                </a:solidFill>
              </a:rPr>
              <a:t>Human-in-the-loop</a:t>
            </a:r>
            <a:endParaRPr lang="en-US" sz="1320" dirty="0"/>
          </a:p>
        </p:txBody>
      </p:sp>
      <p:sp>
        <p:nvSpPr>
          <p:cNvPr id="31" name="Text 27"/>
          <p:cNvSpPr/>
          <p:nvPr/>
        </p:nvSpPr>
        <p:spPr>
          <a:xfrm>
            <a:off x="1179576" y="5413248"/>
            <a:ext cx="4087368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A77"/>
                </a:solidFill>
              </a:rPr>
              <a:t>El bot resuelve lo repetitivo y el humano entra cuando agrega valor.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5806440" y="4882896"/>
            <a:ext cx="4526280" cy="713232"/>
          </a:xfrm>
          <a:prstGeom prst="roundRect">
            <a:avLst>
              <a:gd name="adj" fmla="val 16667"/>
            </a:avLst>
          </a:prstGeom>
          <a:solidFill>
            <a:srgbClr val="317AF2">
              <a:alpha val="14000"/>
            </a:srgbClr>
          </a:solidFill>
          <a:ln w="12700">
            <a:solidFill>
              <a:srgbClr val="317AF2">
                <a:alpha val="90000"/>
              </a:srgbClr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025896" y="5047488"/>
            <a:ext cx="408736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42335"/>
                </a:solidFill>
              </a:rPr>
              <a:t>Operación medible</a:t>
            </a:r>
            <a:endParaRPr lang="en-US" sz="1320" dirty="0"/>
          </a:p>
        </p:txBody>
      </p:sp>
      <p:sp>
        <p:nvSpPr>
          <p:cNvPr id="34" name="Text 30"/>
          <p:cNvSpPr/>
          <p:nvPr/>
        </p:nvSpPr>
        <p:spPr>
          <a:xfrm>
            <a:off x="6025896" y="5413248"/>
            <a:ext cx="4087368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A77"/>
                </a:solidFill>
              </a:rPr>
              <a:t>Cada conversación deja datos, métricas, trazabilidad y aprendizaje.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abstract_technology_business_background_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simple_logo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690" y="292608"/>
            <a:ext cx="1536748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493776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17AF2"/>
                </a:solidFill>
              </a:rPr>
              <a:t>BRAINIAC + ESPECIALISTAS</a:t>
            </a:r>
            <a:endParaRPr lang="en-US" sz="850" dirty="0"/>
          </a:p>
        </p:txBody>
      </p:sp>
      <p:sp>
        <p:nvSpPr>
          <p:cNvPr id="5" name="Shape 1"/>
          <p:cNvSpPr/>
          <p:nvPr/>
        </p:nvSpPr>
        <p:spPr>
          <a:xfrm>
            <a:off x="658368" y="6300216"/>
            <a:ext cx="10863072" cy="0"/>
          </a:xfrm>
          <a:prstGeom prst="line">
            <a:avLst/>
          </a:prstGeom>
          <a:noFill/>
          <a:ln w="12700">
            <a:solidFill>
              <a:srgbClr val="A9E6EF"/>
            </a:solidFill>
            <a:prstDash val="solid"/>
          </a:ln>
        </p:spPr>
        <p:txBody>
          <a:bodyPr/>
          <a:p/>
        </p:txBody>
      </p:sp>
      <p:sp>
        <p:nvSpPr>
          <p:cNvPr id="6" name="Text 2"/>
          <p:cNvSpPr/>
          <p:nvPr/>
        </p:nvSpPr>
        <p:spPr>
          <a:xfrm>
            <a:off x="658368" y="6428232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A77"/>
                </a:solidFill>
              </a:rPr>
              <a:t>Simple · tu empresa aumentada por IA</a:t>
            </a:r>
            <a:endParaRPr lang="en-US" sz="780" dirty="0"/>
          </a:p>
        </p:txBody>
      </p:sp>
      <p:sp>
        <p:nvSpPr>
          <p:cNvPr id="7" name="Text 3"/>
          <p:cNvSpPr/>
          <p:nvPr/>
        </p:nvSpPr>
        <p:spPr>
          <a:xfrm>
            <a:off x="11064240" y="64282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17AF2"/>
                </a:solidFill>
              </a:rPr>
              <a:t>10</a:t>
            </a:r>
            <a:endParaRPr lang="en-US" sz="780" dirty="0"/>
          </a:p>
        </p:txBody>
      </p:sp>
      <p:sp>
        <p:nvSpPr>
          <p:cNvPr id="8" name="Text 4"/>
          <p:cNvSpPr/>
          <p:nvPr/>
        </p:nvSpPr>
        <p:spPr>
          <a:xfrm>
            <a:off x="658368" y="960120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50" b="1" dirty="0">
                <a:solidFill>
                  <a:srgbClr val="1423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IA mejora porque hay especialistas que saben aplicarla.</a:t>
            </a:r>
            <a:endParaRPr lang="en-US" sz="3150" dirty="0"/>
          </a:p>
        </p:txBody>
      </p:sp>
      <p:sp>
        <p:nvSpPr>
          <p:cNvPr id="9" name="Text 5"/>
          <p:cNvSpPr/>
          <p:nvPr/>
        </p:nvSpPr>
        <p:spPr>
          <a:xfrm>
            <a:off x="658368" y="1792224"/>
            <a:ext cx="74980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26A77"/>
                </a:solidFill>
              </a:rPr>
              <a:t>Simple combina herramientas con criterio humano: reglas, prompts, integraciones, validación, datos y mejora continua.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713232" y="2788920"/>
            <a:ext cx="2448306" cy="1078992"/>
          </a:xfrm>
          <a:prstGeom prst="roundRect">
            <a:avLst>
              <a:gd name="adj" fmla="val 9322"/>
            </a:avLst>
          </a:prstGeom>
          <a:solidFill>
            <a:srgbClr val="F0FBFD"/>
          </a:solidFill>
          <a:ln w="12700">
            <a:solidFill>
              <a:srgbClr val="28C7E8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713232" y="2788920"/>
            <a:ext cx="64008" cy="1078992"/>
          </a:xfrm>
          <a:prstGeom prst="rect">
            <a:avLst/>
          </a:prstGeom>
          <a:solidFill>
            <a:srgbClr val="28C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896112" y="2944368"/>
            <a:ext cx="211912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Datos reales</a:t>
            </a:r>
            <a:endParaRPr lang="en-US" sz="1220" dirty="0"/>
          </a:p>
        </p:txBody>
      </p:sp>
      <p:sp>
        <p:nvSpPr>
          <p:cNvPr id="13" name="Text 9"/>
          <p:cNvSpPr/>
          <p:nvPr/>
        </p:nvSpPr>
        <p:spPr>
          <a:xfrm>
            <a:off x="896112" y="3264408"/>
            <a:ext cx="208254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Conversaciones, eventos, ventas, logs y resultados.</a:t>
            </a:r>
            <a:endParaRPr lang="en-US" sz="1070" dirty="0"/>
          </a:p>
        </p:txBody>
      </p:sp>
      <p:sp>
        <p:nvSpPr>
          <p:cNvPr id="14" name="Shape 10"/>
          <p:cNvSpPr/>
          <p:nvPr/>
        </p:nvSpPr>
        <p:spPr>
          <a:xfrm>
            <a:off x="3207258" y="3328416"/>
            <a:ext cx="210312" cy="0"/>
          </a:xfrm>
          <a:prstGeom prst="line">
            <a:avLst/>
          </a:prstGeom>
          <a:noFill/>
          <a:ln w="12700">
            <a:solidFill>
              <a:srgbClr val="28C7E8">
                <a:alpha val="98000"/>
              </a:srgbClr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3481578" y="2788920"/>
            <a:ext cx="2448306" cy="1078992"/>
          </a:xfrm>
          <a:prstGeom prst="roundRect">
            <a:avLst>
              <a:gd name="adj" fmla="val 9322"/>
            </a:avLst>
          </a:prstGeom>
          <a:solidFill>
            <a:srgbClr val="F0FBFD"/>
          </a:solidFill>
          <a:ln w="12700">
            <a:solidFill>
              <a:srgbClr val="6557E8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3481578" y="2788920"/>
            <a:ext cx="64008" cy="1078992"/>
          </a:xfrm>
          <a:prstGeom prst="rect">
            <a:avLst/>
          </a:prstGeom>
          <a:solidFill>
            <a:srgbClr val="655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3664458" y="2944368"/>
            <a:ext cx="211912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Brainiac</a:t>
            </a:r>
            <a:endParaRPr lang="en-US" sz="1220" dirty="0"/>
          </a:p>
        </p:txBody>
      </p:sp>
      <p:sp>
        <p:nvSpPr>
          <p:cNvPr id="18" name="Text 14"/>
          <p:cNvSpPr/>
          <p:nvPr/>
        </p:nvSpPr>
        <p:spPr>
          <a:xfrm>
            <a:off x="3664458" y="3264408"/>
            <a:ext cx="208254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Modelos, agentes, reglas y decisiones.</a:t>
            </a:r>
            <a:endParaRPr lang="en-US" sz="1070" dirty="0"/>
          </a:p>
        </p:txBody>
      </p:sp>
      <p:sp>
        <p:nvSpPr>
          <p:cNvPr id="19" name="Shape 15"/>
          <p:cNvSpPr/>
          <p:nvPr/>
        </p:nvSpPr>
        <p:spPr>
          <a:xfrm>
            <a:off x="5975604" y="3328416"/>
            <a:ext cx="210312" cy="0"/>
          </a:xfrm>
          <a:prstGeom prst="line">
            <a:avLst/>
          </a:prstGeom>
          <a:noFill/>
          <a:ln w="12700">
            <a:solidFill>
              <a:srgbClr val="6557E8">
                <a:alpha val="98000"/>
              </a:srgbClr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6249924" y="2788920"/>
            <a:ext cx="2448306" cy="1078992"/>
          </a:xfrm>
          <a:prstGeom prst="roundRect">
            <a:avLst>
              <a:gd name="adj" fmla="val 9322"/>
            </a:avLst>
          </a:prstGeom>
          <a:solidFill>
            <a:srgbClr val="F0FBFD"/>
          </a:solidFill>
          <a:ln w="12700">
            <a:solidFill>
              <a:srgbClr val="317AF2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7"/>
          <p:cNvSpPr/>
          <p:nvPr/>
        </p:nvSpPr>
        <p:spPr>
          <a:xfrm>
            <a:off x="6249924" y="2788920"/>
            <a:ext cx="64008" cy="1078992"/>
          </a:xfrm>
          <a:prstGeom prst="rect">
            <a:avLst/>
          </a:prstGeom>
          <a:solidFill>
            <a:srgbClr val="317A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8"/>
          <p:cNvSpPr/>
          <p:nvPr/>
        </p:nvSpPr>
        <p:spPr>
          <a:xfrm>
            <a:off x="6432804" y="2944368"/>
            <a:ext cx="211912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Acciones</a:t>
            </a:r>
            <a:endParaRPr lang="en-US" sz="1220" dirty="0"/>
          </a:p>
        </p:txBody>
      </p:sp>
      <p:sp>
        <p:nvSpPr>
          <p:cNvPr id="23" name="Text 19"/>
          <p:cNvSpPr/>
          <p:nvPr/>
        </p:nvSpPr>
        <p:spPr>
          <a:xfrm>
            <a:off x="6432804" y="3264408"/>
            <a:ext cx="208254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Respuestas, workflows, alertas y recomendaciones.</a:t>
            </a:r>
            <a:endParaRPr lang="en-US" sz="1070" dirty="0"/>
          </a:p>
        </p:txBody>
      </p:sp>
      <p:sp>
        <p:nvSpPr>
          <p:cNvPr id="24" name="Shape 20"/>
          <p:cNvSpPr/>
          <p:nvPr/>
        </p:nvSpPr>
        <p:spPr>
          <a:xfrm>
            <a:off x="8743950" y="3328416"/>
            <a:ext cx="210312" cy="0"/>
          </a:xfrm>
          <a:prstGeom prst="line">
            <a:avLst/>
          </a:prstGeom>
          <a:noFill/>
          <a:ln w="12700">
            <a:solidFill>
              <a:srgbClr val="317AF2">
                <a:alpha val="98000"/>
              </a:srgbClr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5" name="Shape 21"/>
          <p:cNvSpPr/>
          <p:nvPr/>
        </p:nvSpPr>
        <p:spPr>
          <a:xfrm>
            <a:off x="9018270" y="2788920"/>
            <a:ext cx="2448306" cy="1078992"/>
          </a:xfrm>
          <a:prstGeom prst="roundRect">
            <a:avLst>
              <a:gd name="adj" fmla="val 9322"/>
            </a:avLst>
          </a:prstGeom>
          <a:solidFill>
            <a:srgbClr val="F0FBFD"/>
          </a:solidFill>
          <a:ln w="12700">
            <a:solidFill>
              <a:srgbClr val="34D399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6" name="Shape 22"/>
          <p:cNvSpPr/>
          <p:nvPr/>
        </p:nvSpPr>
        <p:spPr>
          <a:xfrm>
            <a:off x="9018270" y="2788920"/>
            <a:ext cx="64008" cy="1078992"/>
          </a:xfrm>
          <a:prstGeom prst="rect">
            <a:avLst/>
          </a:prstGeom>
          <a:solidFill>
            <a:srgbClr val="34D39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3"/>
          <p:cNvSpPr/>
          <p:nvPr/>
        </p:nvSpPr>
        <p:spPr>
          <a:xfrm>
            <a:off x="9201150" y="2944368"/>
            <a:ext cx="211912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Feedback experto</a:t>
            </a:r>
            <a:endParaRPr lang="en-US" sz="1220" dirty="0"/>
          </a:p>
        </p:txBody>
      </p:sp>
      <p:sp>
        <p:nvSpPr>
          <p:cNvPr id="28" name="Text 24"/>
          <p:cNvSpPr/>
          <p:nvPr/>
        </p:nvSpPr>
        <p:spPr>
          <a:xfrm>
            <a:off x="9201150" y="3264408"/>
            <a:ext cx="208254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Especialistas validan, ajustan y mejoran.</a:t>
            </a:r>
            <a:endParaRPr lang="en-US" sz="1070" dirty="0"/>
          </a:p>
        </p:txBody>
      </p:sp>
      <p:sp>
        <p:nvSpPr>
          <p:cNvPr id="29" name="Shape 25"/>
          <p:cNvSpPr/>
          <p:nvPr/>
        </p:nvSpPr>
        <p:spPr>
          <a:xfrm>
            <a:off x="960120" y="4882896"/>
            <a:ext cx="9829800" cy="713232"/>
          </a:xfrm>
          <a:prstGeom prst="roundRect">
            <a:avLst>
              <a:gd name="adj" fmla="val 16667"/>
            </a:avLst>
          </a:prstGeom>
          <a:solidFill>
            <a:srgbClr val="317AF2">
              <a:alpha val="14000"/>
            </a:srgbClr>
          </a:solidFill>
          <a:ln w="12700">
            <a:solidFill>
              <a:srgbClr val="317AF2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6"/>
          <p:cNvSpPr/>
          <p:nvPr/>
        </p:nvSpPr>
        <p:spPr>
          <a:xfrm>
            <a:off x="1179576" y="5047488"/>
            <a:ext cx="939088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42335"/>
                </a:solidFill>
              </a:rPr>
              <a:t>En Simple, Brainiac es el cerebro y los agentes (Francisco y otros) son los brazos. El equipo humano define las reglas y valida los resultados.</a:t>
            </a:r>
            <a:endParaRPr lang="en-US" sz="13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abstract_technology_business_background_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simple_logo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690" y="292608"/>
            <a:ext cx="1536748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493776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17AF2"/>
                </a:solidFill>
              </a:rPr>
              <a:t>MODELO OPERATIVO SIMPLE</a:t>
            </a:r>
            <a:endParaRPr lang="en-US" sz="850" dirty="0"/>
          </a:p>
        </p:txBody>
      </p:sp>
      <p:sp>
        <p:nvSpPr>
          <p:cNvPr id="5" name="Shape 1"/>
          <p:cNvSpPr/>
          <p:nvPr/>
        </p:nvSpPr>
        <p:spPr>
          <a:xfrm>
            <a:off x="658368" y="6300216"/>
            <a:ext cx="10863072" cy="0"/>
          </a:xfrm>
          <a:prstGeom prst="line">
            <a:avLst/>
          </a:prstGeom>
          <a:noFill/>
          <a:ln w="12700">
            <a:solidFill>
              <a:srgbClr val="A9E6E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58368" y="6428232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A77"/>
                </a:solidFill>
              </a:rPr>
              <a:t>Simple · tu empresa aumentada por IA</a:t>
            </a:r>
            <a:endParaRPr lang="en-US" sz="780" dirty="0"/>
          </a:p>
        </p:txBody>
      </p:sp>
      <p:sp>
        <p:nvSpPr>
          <p:cNvPr id="7" name="Text 3"/>
          <p:cNvSpPr/>
          <p:nvPr/>
        </p:nvSpPr>
        <p:spPr>
          <a:xfrm>
            <a:off x="11064240" y="64282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17AF2"/>
                </a:solidFill>
              </a:rPr>
              <a:t>11</a:t>
            </a:r>
            <a:endParaRPr lang="en-US" sz="780" dirty="0"/>
          </a:p>
        </p:txBody>
      </p:sp>
      <p:sp>
        <p:nvSpPr>
          <p:cNvPr id="8" name="Text 4"/>
          <p:cNvSpPr/>
          <p:nvPr/>
        </p:nvSpPr>
        <p:spPr>
          <a:xfrm>
            <a:off x="658368" y="960120"/>
            <a:ext cx="8961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50" b="1" dirty="0">
                <a:solidFill>
                  <a:srgbClr val="1423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Equipos mínimos de alto impacto, aumentados por herramientas.</a:t>
            </a:r>
            <a:endParaRPr lang="en-US" sz="3050" dirty="0"/>
          </a:p>
        </p:txBody>
      </p:sp>
      <p:sp>
        <p:nvSpPr>
          <p:cNvPr id="9" name="Text 5"/>
          <p:cNvSpPr/>
          <p:nvPr/>
        </p:nvSpPr>
        <p:spPr>
          <a:xfrm>
            <a:off x="658368" y="1792224"/>
            <a:ext cx="6949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26A77"/>
                </a:solidFill>
              </a:rPr>
              <a:t>Simple también se opera como lo que vende: una empresa liviana, conectada y aumentada por IA.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914400" y="2834640"/>
            <a:ext cx="3139440" cy="1143000"/>
          </a:xfrm>
          <a:prstGeom prst="roundRect">
            <a:avLst>
              <a:gd name="adj" fmla="val 8800"/>
            </a:avLst>
          </a:prstGeom>
          <a:solidFill>
            <a:srgbClr val="F0FBFD"/>
          </a:solidFill>
          <a:ln w="12700">
            <a:solidFill>
              <a:srgbClr val="317AF2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14400" y="2834640"/>
            <a:ext cx="64008" cy="1143000"/>
          </a:xfrm>
          <a:prstGeom prst="rect">
            <a:avLst/>
          </a:prstGeom>
          <a:solidFill>
            <a:srgbClr val="317A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097280" y="2990088"/>
            <a:ext cx="281025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Especialista</a:t>
            </a:r>
            <a:endParaRPr lang="en-US" sz="1220" dirty="0"/>
          </a:p>
        </p:txBody>
      </p:sp>
      <p:sp>
        <p:nvSpPr>
          <p:cNvPr id="13" name="Text 9"/>
          <p:cNvSpPr/>
          <p:nvPr/>
        </p:nvSpPr>
        <p:spPr>
          <a:xfrm>
            <a:off x="1097280" y="3310128"/>
            <a:ext cx="2773680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Criterio, negocio, contexto y diseño de procesos.</a:t>
            </a:r>
            <a:endParaRPr lang="en-US" sz="1070" dirty="0"/>
          </a:p>
        </p:txBody>
      </p:sp>
      <p:sp>
        <p:nvSpPr>
          <p:cNvPr id="14" name="Shape 10"/>
          <p:cNvSpPr/>
          <p:nvPr/>
        </p:nvSpPr>
        <p:spPr>
          <a:xfrm>
            <a:off x="4099560" y="3406140"/>
            <a:ext cx="210312" cy="0"/>
          </a:xfrm>
          <a:prstGeom prst="line">
            <a:avLst/>
          </a:prstGeom>
          <a:noFill/>
          <a:ln w="12700">
            <a:solidFill>
              <a:srgbClr val="317AF2">
                <a:alpha val="98000"/>
              </a:srgbClr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4373880" y="2834640"/>
            <a:ext cx="3139440" cy="1143000"/>
          </a:xfrm>
          <a:prstGeom prst="roundRect">
            <a:avLst>
              <a:gd name="adj" fmla="val 8800"/>
            </a:avLst>
          </a:prstGeom>
          <a:solidFill>
            <a:srgbClr val="F0FBFD"/>
          </a:solidFill>
          <a:ln w="12700">
            <a:solidFill>
              <a:srgbClr val="28C7E8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373880" y="2834640"/>
            <a:ext cx="64008" cy="1143000"/>
          </a:xfrm>
          <a:prstGeom prst="rect">
            <a:avLst/>
          </a:prstGeom>
          <a:solidFill>
            <a:srgbClr val="28C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56760" y="2990088"/>
            <a:ext cx="281025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Herramientas</a:t>
            </a:r>
            <a:endParaRPr lang="en-US" sz="1220" dirty="0"/>
          </a:p>
        </p:txBody>
      </p:sp>
      <p:sp>
        <p:nvSpPr>
          <p:cNvPr id="18" name="Text 14"/>
          <p:cNvSpPr/>
          <p:nvPr/>
        </p:nvSpPr>
        <p:spPr>
          <a:xfrm>
            <a:off x="4556760" y="3310128"/>
            <a:ext cx="2773680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IA, agentes, n8n, APIs, dashboards, scripts.</a:t>
            </a:r>
            <a:endParaRPr lang="en-US" sz="1070" dirty="0"/>
          </a:p>
        </p:txBody>
      </p:sp>
      <p:sp>
        <p:nvSpPr>
          <p:cNvPr id="19" name="Shape 15"/>
          <p:cNvSpPr/>
          <p:nvPr/>
        </p:nvSpPr>
        <p:spPr>
          <a:xfrm>
            <a:off x="7559040" y="3406140"/>
            <a:ext cx="210312" cy="0"/>
          </a:xfrm>
          <a:prstGeom prst="line">
            <a:avLst/>
          </a:prstGeom>
          <a:noFill/>
          <a:ln w="12700">
            <a:solidFill>
              <a:srgbClr val="28C7E8">
                <a:alpha val="98000"/>
              </a:srgbClr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7833360" y="2834640"/>
            <a:ext cx="3139440" cy="1143000"/>
          </a:xfrm>
          <a:prstGeom prst="roundRect">
            <a:avLst>
              <a:gd name="adj" fmla="val 8800"/>
            </a:avLst>
          </a:prstGeom>
          <a:solidFill>
            <a:srgbClr val="F0FBFD"/>
          </a:solidFill>
          <a:ln w="12700">
            <a:solidFill>
              <a:srgbClr val="34D399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833360" y="2834640"/>
            <a:ext cx="64008" cy="1143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016240" y="2990088"/>
            <a:ext cx="281025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Activos reutilizables</a:t>
            </a:r>
            <a:endParaRPr lang="en-US" sz="1220" dirty="0"/>
          </a:p>
        </p:txBody>
      </p:sp>
      <p:sp>
        <p:nvSpPr>
          <p:cNvPr id="23" name="Text 19"/>
          <p:cNvSpPr/>
          <p:nvPr/>
        </p:nvSpPr>
        <p:spPr>
          <a:xfrm>
            <a:off x="8016240" y="3310128"/>
            <a:ext cx="2773680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Conectores, prompts, workflows y playbooks.</a:t>
            </a:r>
            <a:endParaRPr lang="en-US" sz="1070" dirty="0"/>
          </a:p>
        </p:txBody>
      </p:sp>
      <p:sp>
        <p:nvSpPr>
          <p:cNvPr id="24" name="Shape 20"/>
          <p:cNvSpPr/>
          <p:nvPr/>
        </p:nvSpPr>
        <p:spPr>
          <a:xfrm>
            <a:off x="1005840" y="4882896"/>
            <a:ext cx="9692640" cy="713232"/>
          </a:xfrm>
          <a:prstGeom prst="roundRect">
            <a:avLst>
              <a:gd name="adj" fmla="val 16667"/>
            </a:avLst>
          </a:prstGeom>
          <a:solidFill>
            <a:srgbClr val="6557E8">
              <a:alpha val="14000"/>
            </a:srgbClr>
          </a:solidFill>
          <a:ln w="12700">
            <a:solidFill>
              <a:srgbClr val="6557E8">
                <a:alpha val="9000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225296" y="5047488"/>
            <a:ext cx="925372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42335"/>
                </a:solidFill>
              </a:rPr>
              <a:t>Ventaja competitiva</a:t>
            </a:r>
            <a:endParaRPr lang="en-US" sz="1320" dirty="0"/>
          </a:p>
        </p:txBody>
      </p:sp>
      <p:sp>
        <p:nvSpPr>
          <p:cNvPr id="26" name="Text 22"/>
          <p:cNvSpPr/>
          <p:nvPr/>
        </p:nvSpPr>
        <p:spPr>
          <a:xfrm>
            <a:off x="1225296" y="5413248"/>
            <a:ext cx="9253728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A77"/>
                </a:solidFill>
              </a:rPr>
              <a:t>Cada implementación no solo resuelve un caso: deja capacidades que hacen a Simple más fuerte.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abstract_technology_business_background_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simple_logo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690" y="292608"/>
            <a:ext cx="1536748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493776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17AF2"/>
                </a:solidFill>
              </a:rPr>
              <a:t>MÓDULOS VENDIBLES</a:t>
            </a:r>
            <a:endParaRPr lang="en-US" sz="850" dirty="0"/>
          </a:p>
        </p:txBody>
      </p:sp>
      <p:sp>
        <p:nvSpPr>
          <p:cNvPr id="5" name="Shape 1"/>
          <p:cNvSpPr/>
          <p:nvPr/>
        </p:nvSpPr>
        <p:spPr>
          <a:xfrm>
            <a:off x="658368" y="6300216"/>
            <a:ext cx="10863072" cy="0"/>
          </a:xfrm>
          <a:prstGeom prst="line">
            <a:avLst/>
          </a:prstGeom>
          <a:noFill/>
          <a:ln w="12700">
            <a:solidFill>
              <a:srgbClr val="A9E6EF"/>
            </a:solidFill>
            <a:prstDash val="solid"/>
          </a:ln>
        </p:spPr>
        <p:txBody>
          <a:bodyPr/>
          <a:p/>
        </p:txBody>
      </p:sp>
      <p:sp>
        <p:nvSpPr>
          <p:cNvPr id="6" name="Text 2"/>
          <p:cNvSpPr/>
          <p:nvPr/>
        </p:nvSpPr>
        <p:spPr>
          <a:xfrm>
            <a:off x="658368" y="6428232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A77"/>
                </a:solidFill>
              </a:rPr>
              <a:t>Simple · tu empresa aumentada por IA</a:t>
            </a:r>
            <a:endParaRPr lang="en-US" sz="780" dirty="0"/>
          </a:p>
        </p:txBody>
      </p:sp>
      <p:sp>
        <p:nvSpPr>
          <p:cNvPr id="7" name="Text 3"/>
          <p:cNvSpPr/>
          <p:nvPr/>
        </p:nvSpPr>
        <p:spPr>
          <a:xfrm>
            <a:off x="11064240" y="64282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17AF2"/>
                </a:solidFill>
              </a:rPr>
              <a:t>12</a:t>
            </a:r>
            <a:endParaRPr lang="en-US" sz="780" dirty="0"/>
          </a:p>
        </p:txBody>
      </p:sp>
      <p:sp>
        <p:nvSpPr>
          <p:cNvPr id="8" name="Text 4"/>
          <p:cNvSpPr/>
          <p:nvPr/>
        </p:nvSpPr>
        <p:spPr>
          <a:xfrm>
            <a:off x="658368" y="960120"/>
            <a:ext cx="8961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3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Entramos por un dolor concreto y expandimos hacia la empresa aumentada.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658368" y="1792224"/>
            <a:ext cx="6949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26A77"/>
                </a:solidFill>
              </a:rPr>
              <a:t>Cada módulo entrega valor por sí mismo, pero el valor real crece cuando comparten contexto.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749808" y="2761488"/>
            <a:ext cx="2907792" cy="941832"/>
          </a:xfrm>
          <a:prstGeom prst="roundRect">
            <a:avLst>
              <a:gd name="adj" fmla="val 10680"/>
            </a:avLst>
          </a:prstGeom>
          <a:solidFill>
            <a:srgbClr val="F0FBFD"/>
          </a:solidFill>
          <a:ln w="12700">
            <a:solidFill>
              <a:srgbClr val="34D399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749808" y="2761488"/>
            <a:ext cx="64008" cy="941832"/>
          </a:xfrm>
          <a:prstGeom prst="rect">
            <a:avLst/>
          </a:prstGeom>
          <a:solidFill>
            <a:srgbClr val="34D39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932688" y="2916936"/>
            <a:ext cx="25786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42335"/>
                </a:solidFill>
              </a:rPr>
              <a:t>Ventas</a:t>
            </a:r>
            <a:endParaRPr lang="en-US" sz="1260" dirty="0"/>
          </a:p>
        </p:txBody>
      </p:sp>
      <p:sp>
        <p:nvSpPr>
          <p:cNvPr id="13" name="Text 9"/>
          <p:cNvSpPr/>
          <p:nvPr/>
        </p:nvSpPr>
        <p:spPr>
          <a:xfrm>
            <a:off x="932688" y="3236976"/>
            <a:ext cx="254203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Leads, propuestas, publicaciones y seguimiento.</a:t>
            </a:r>
            <a:endParaRPr lang="en-US" sz="1070" dirty="0"/>
          </a:p>
        </p:txBody>
      </p:sp>
      <p:sp>
        <p:nvSpPr>
          <p:cNvPr id="14" name="Shape 10"/>
          <p:cNvSpPr/>
          <p:nvPr/>
        </p:nvSpPr>
        <p:spPr>
          <a:xfrm>
            <a:off x="4425696" y="2761488"/>
            <a:ext cx="2907792" cy="941832"/>
          </a:xfrm>
          <a:prstGeom prst="roundRect">
            <a:avLst>
              <a:gd name="adj" fmla="val 10680"/>
            </a:avLst>
          </a:prstGeom>
          <a:solidFill>
            <a:srgbClr val="F0FBFD"/>
          </a:solidFill>
          <a:ln w="12700">
            <a:solidFill>
              <a:srgbClr val="28C7E8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4425696" y="2761488"/>
            <a:ext cx="64008" cy="941832"/>
          </a:xfrm>
          <a:prstGeom prst="rect">
            <a:avLst/>
          </a:prstGeom>
          <a:solidFill>
            <a:srgbClr val="28C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4608576" y="2916936"/>
            <a:ext cx="25786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42335"/>
                </a:solidFill>
              </a:rPr>
              <a:t>Atención</a:t>
            </a:r>
            <a:endParaRPr lang="en-US" sz="1260" dirty="0"/>
          </a:p>
        </p:txBody>
      </p:sp>
      <p:sp>
        <p:nvSpPr>
          <p:cNvPr id="17" name="Text 13"/>
          <p:cNvSpPr/>
          <p:nvPr/>
        </p:nvSpPr>
        <p:spPr>
          <a:xfrm>
            <a:off x="4608576" y="3236976"/>
            <a:ext cx="254203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Bots, tickets, derivación y trazabilidad.</a:t>
            </a:r>
            <a:endParaRPr lang="en-US" sz="1070" dirty="0"/>
          </a:p>
        </p:txBody>
      </p:sp>
      <p:sp>
        <p:nvSpPr>
          <p:cNvPr id="18" name="Shape 14"/>
          <p:cNvSpPr/>
          <p:nvPr/>
        </p:nvSpPr>
        <p:spPr>
          <a:xfrm>
            <a:off x="8101584" y="2761488"/>
            <a:ext cx="2907792" cy="941832"/>
          </a:xfrm>
          <a:prstGeom prst="roundRect">
            <a:avLst>
              <a:gd name="adj" fmla="val 10680"/>
            </a:avLst>
          </a:prstGeom>
          <a:solidFill>
            <a:srgbClr val="F0FBFD"/>
          </a:solidFill>
          <a:ln w="12700">
            <a:solidFill>
              <a:srgbClr val="317AF2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8101584" y="2761488"/>
            <a:ext cx="64008" cy="941832"/>
          </a:xfrm>
          <a:prstGeom prst="rect">
            <a:avLst/>
          </a:prstGeom>
          <a:solidFill>
            <a:srgbClr val="317A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8284464" y="2916936"/>
            <a:ext cx="25786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42335"/>
                </a:solidFill>
              </a:rPr>
              <a:t>Operaciones</a:t>
            </a:r>
            <a:endParaRPr lang="en-US" sz="1260" dirty="0"/>
          </a:p>
        </p:txBody>
      </p:sp>
      <p:sp>
        <p:nvSpPr>
          <p:cNvPr id="21" name="Text 17"/>
          <p:cNvSpPr/>
          <p:nvPr/>
        </p:nvSpPr>
        <p:spPr>
          <a:xfrm>
            <a:off x="8284464" y="3236976"/>
            <a:ext cx="254203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Alertas, estados, workflows y control.</a:t>
            </a:r>
            <a:endParaRPr lang="en-US" sz="1070" dirty="0"/>
          </a:p>
        </p:txBody>
      </p:sp>
      <p:sp>
        <p:nvSpPr>
          <p:cNvPr id="22" name="Shape 18"/>
          <p:cNvSpPr/>
          <p:nvPr/>
        </p:nvSpPr>
        <p:spPr>
          <a:xfrm>
            <a:off x="749808" y="4041648"/>
            <a:ext cx="2907792" cy="941832"/>
          </a:xfrm>
          <a:prstGeom prst="roundRect">
            <a:avLst>
              <a:gd name="adj" fmla="val 10680"/>
            </a:avLst>
          </a:prstGeom>
          <a:solidFill>
            <a:srgbClr val="F0FBFD"/>
          </a:solidFill>
          <a:ln w="12700">
            <a:solidFill>
              <a:srgbClr val="6557E8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3" name="Shape 19"/>
          <p:cNvSpPr/>
          <p:nvPr/>
        </p:nvSpPr>
        <p:spPr>
          <a:xfrm>
            <a:off x="749808" y="4041648"/>
            <a:ext cx="64008" cy="941832"/>
          </a:xfrm>
          <a:prstGeom prst="rect">
            <a:avLst/>
          </a:prstGeom>
          <a:solidFill>
            <a:srgbClr val="655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0"/>
          <p:cNvSpPr/>
          <p:nvPr/>
        </p:nvSpPr>
        <p:spPr>
          <a:xfrm>
            <a:off x="932688" y="4197096"/>
            <a:ext cx="25786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42335"/>
                </a:solidFill>
              </a:rPr>
              <a:t>Administración</a:t>
            </a:r>
            <a:endParaRPr lang="en-US" sz="1260" dirty="0"/>
          </a:p>
        </p:txBody>
      </p:sp>
      <p:sp>
        <p:nvSpPr>
          <p:cNvPr id="25" name="Text 21"/>
          <p:cNvSpPr/>
          <p:nvPr/>
        </p:nvSpPr>
        <p:spPr>
          <a:xfrm>
            <a:off x="932688" y="4517136"/>
            <a:ext cx="254203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Cobros, reportes, conciliación y contratos.</a:t>
            </a:r>
            <a:endParaRPr lang="en-US" sz="1070" dirty="0"/>
          </a:p>
        </p:txBody>
      </p:sp>
      <p:sp>
        <p:nvSpPr>
          <p:cNvPr id="26" name="Shape 22"/>
          <p:cNvSpPr/>
          <p:nvPr/>
        </p:nvSpPr>
        <p:spPr>
          <a:xfrm>
            <a:off x="4425696" y="4041648"/>
            <a:ext cx="2907792" cy="941832"/>
          </a:xfrm>
          <a:prstGeom prst="roundRect">
            <a:avLst>
              <a:gd name="adj" fmla="val 10680"/>
            </a:avLst>
          </a:prstGeom>
          <a:solidFill>
            <a:srgbClr val="F0FBFD"/>
          </a:solidFill>
          <a:ln w="12700">
            <a:solidFill>
              <a:srgbClr val="F0B94D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7" name="Shape 23"/>
          <p:cNvSpPr/>
          <p:nvPr/>
        </p:nvSpPr>
        <p:spPr>
          <a:xfrm>
            <a:off x="4425696" y="4041648"/>
            <a:ext cx="64008" cy="941832"/>
          </a:xfrm>
          <a:prstGeom prst="rect">
            <a:avLst/>
          </a:prstGeom>
          <a:solidFill>
            <a:srgbClr val="F0B9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4"/>
          <p:cNvSpPr/>
          <p:nvPr/>
        </p:nvSpPr>
        <p:spPr>
          <a:xfrm>
            <a:off x="4608576" y="4197096"/>
            <a:ext cx="25786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42335"/>
                </a:solidFill>
              </a:rPr>
              <a:t>Analítica</a:t>
            </a:r>
            <a:endParaRPr lang="en-US" sz="1260" dirty="0"/>
          </a:p>
        </p:txBody>
      </p:sp>
      <p:sp>
        <p:nvSpPr>
          <p:cNvPr id="29" name="Text 25"/>
          <p:cNvSpPr/>
          <p:nvPr/>
        </p:nvSpPr>
        <p:spPr>
          <a:xfrm>
            <a:off x="4608576" y="4517136"/>
            <a:ext cx="254203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Datos, patrones, oportunidades y riesgos.</a:t>
            </a:r>
            <a:endParaRPr lang="en-US" sz="1070" dirty="0"/>
          </a:p>
        </p:txBody>
      </p:sp>
      <p:sp>
        <p:nvSpPr>
          <p:cNvPr id="30" name="Shape 26"/>
          <p:cNvSpPr/>
          <p:nvPr/>
        </p:nvSpPr>
        <p:spPr>
          <a:xfrm>
            <a:off x="8101584" y="4041648"/>
            <a:ext cx="2907792" cy="941832"/>
          </a:xfrm>
          <a:prstGeom prst="roundRect">
            <a:avLst>
              <a:gd name="adj" fmla="val 10680"/>
            </a:avLst>
          </a:prstGeom>
          <a:solidFill>
            <a:srgbClr val="F0FBFD"/>
          </a:solidFill>
          <a:ln w="12700">
            <a:solidFill>
              <a:srgbClr val="16B8B6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1" name="Shape 27"/>
          <p:cNvSpPr/>
          <p:nvPr/>
        </p:nvSpPr>
        <p:spPr>
          <a:xfrm>
            <a:off x="8101584" y="4041648"/>
            <a:ext cx="64008" cy="941832"/>
          </a:xfrm>
          <a:prstGeom prst="rect">
            <a:avLst/>
          </a:prstGeom>
          <a:solidFill>
            <a:srgbClr val="16B8B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28"/>
          <p:cNvSpPr/>
          <p:nvPr/>
        </p:nvSpPr>
        <p:spPr>
          <a:xfrm>
            <a:off x="8284464" y="4197096"/>
            <a:ext cx="25786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42335"/>
                </a:solidFill>
              </a:rPr>
              <a:t>Integraciones</a:t>
            </a:r>
            <a:endParaRPr lang="en-US" sz="1260" dirty="0"/>
          </a:p>
        </p:txBody>
      </p:sp>
      <p:sp>
        <p:nvSpPr>
          <p:cNvPr id="33" name="Text 29"/>
          <p:cNvSpPr/>
          <p:nvPr/>
        </p:nvSpPr>
        <p:spPr>
          <a:xfrm>
            <a:off x="8284464" y="4517136"/>
            <a:ext cx="254203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APIs, bases, archivos y sistemas legacy.</a:t>
            </a:r>
            <a:endParaRPr lang="en-US" sz="1070" dirty="0"/>
          </a:p>
        </p:txBody>
      </p:sp>
      <p:sp>
        <p:nvSpPr>
          <p:cNvPr id="34" name="Text 30"/>
          <p:cNvSpPr/>
          <p:nvPr/>
        </p:nvSpPr>
        <p:spPr>
          <a:xfrm>
            <a:off x="896112" y="5303520"/>
            <a:ext cx="859536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2A47"/>
                </a:solidFill>
              </a:rPr>
              <a:t>Canales: WhatsApp · Instagram · Telegram · Email · SMS · Mercado Libre · Amazon · Correo Argentino · OCA · TikTok · LinkedIn
Integraciones: Tango Gestión · VTEX · SAP · Salesforce · HubSpot · Mercado Libre · N8N · Make · Google Cloud
Modelos IA: GPT-4o · Claude 3.7 · Gemini 2.0 · Grok 3 · Llama 3.3 · DeepSeek V3</a:t>
            </a:r>
            <a:endParaRPr lang="en-US" sz="15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abstract_technology_business_background_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simple_logo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690" y="292608"/>
            <a:ext cx="1536748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493776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17AF2"/>
                </a:solidFill>
              </a:rPr>
              <a:t>PLAN DE NEGOCIO</a:t>
            </a:r>
            <a:endParaRPr lang="en-US" sz="850" dirty="0"/>
          </a:p>
        </p:txBody>
      </p:sp>
      <p:sp>
        <p:nvSpPr>
          <p:cNvPr id="5" name="Shape 1"/>
          <p:cNvSpPr/>
          <p:nvPr/>
        </p:nvSpPr>
        <p:spPr>
          <a:xfrm>
            <a:off x="658368" y="6300216"/>
            <a:ext cx="10863072" cy="0"/>
          </a:xfrm>
          <a:prstGeom prst="line">
            <a:avLst/>
          </a:prstGeom>
          <a:noFill/>
          <a:ln w="12700">
            <a:solidFill>
              <a:srgbClr val="A9E6E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58368" y="6428232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A77"/>
                </a:solidFill>
              </a:rPr>
              <a:t>Simple · tu empresa aumentada por IA</a:t>
            </a:r>
            <a:endParaRPr lang="en-US" sz="780" dirty="0"/>
          </a:p>
        </p:txBody>
      </p:sp>
      <p:sp>
        <p:nvSpPr>
          <p:cNvPr id="7" name="Text 3"/>
          <p:cNvSpPr/>
          <p:nvPr/>
        </p:nvSpPr>
        <p:spPr>
          <a:xfrm>
            <a:off x="11064240" y="64282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17AF2"/>
                </a:solidFill>
              </a:rPr>
              <a:t>13</a:t>
            </a:r>
            <a:endParaRPr lang="en-US" sz="780" dirty="0"/>
          </a:p>
        </p:txBody>
      </p:sp>
      <p:sp>
        <p:nvSpPr>
          <p:cNvPr id="8" name="Text 4"/>
          <p:cNvSpPr/>
          <p:nvPr/>
        </p:nvSpPr>
        <p:spPr>
          <a:xfrm>
            <a:off x="658368" y="960120"/>
            <a:ext cx="8778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50" b="1" dirty="0">
                <a:solidFill>
                  <a:srgbClr val="1423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Implementación + SaaS + consumo + mejora continua.</a:t>
            </a:r>
            <a:endParaRPr lang="en-US" sz="3150" dirty="0"/>
          </a:p>
        </p:txBody>
      </p:sp>
      <p:sp>
        <p:nvSpPr>
          <p:cNvPr id="9" name="Text 5"/>
          <p:cNvSpPr/>
          <p:nvPr/>
        </p:nvSpPr>
        <p:spPr>
          <a:xfrm>
            <a:off x="658368" y="1792224"/>
            <a:ext cx="74980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26A77"/>
                </a:solidFill>
              </a:rPr>
              <a:t>Ingresos iniciales por puesta en marcha, recurrencia mensual y expansión por módulos, agentes e integraciones.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713232" y="2788920"/>
            <a:ext cx="2448306" cy="1078992"/>
          </a:xfrm>
          <a:prstGeom prst="roundRect">
            <a:avLst>
              <a:gd name="adj" fmla="val 9322"/>
            </a:avLst>
          </a:prstGeom>
          <a:solidFill>
            <a:srgbClr val="F0FBFD"/>
          </a:solidFill>
          <a:ln w="12700">
            <a:solidFill>
              <a:srgbClr val="28C7E8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13232" y="2788920"/>
            <a:ext cx="64008" cy="1078992"/>
          </a:xfrm>
          <a:prstGeom prst="rect">
            <a:avLst/>
          </a:prstGeom>
          <a:solidFill>
            <a:srgbClr val="28C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96112" y="2944368"/>
            <a:ext cx="211912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Setup</a:t>
            </a:r>
            <a:endParaRPr lang="en-US" sz="1220" dirty="0"/>
          </a:p>
        </p:txBody>
      </p:sp>
      <p:sp>
        <p:nvSpPr>
          <p:cNvPr id="13" name="Text 9"/>
          <p:cNvSpPr/>
          <p:nvPr/>
        </p:nvSpPr>
        <p:spPr>
          <a:xfrm>
            <a:off x="896112" y="3264408"/>
            <a:ext cx="208254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Diagnóstico, conectores, seguridad y primer flujo productivo.</a:t>
            </a:r>
            <a:endParaRPr lang="en-US" sz="1070" dirty="0"/>
          </a:p>
        </p:txBody>
      </p:sp>
      <p:sp>
        <p:nvSpPr>
          <p:cNvPr id="14" name="Shape 10"/>
          <p:cNvSpPr/>
          <p:nvPr/>
        </p:nvSpPr>
        <p:spPr>
          <a:xfrm>
            <a:off x="3207258" y="3328416"/>
            <a:ext cx="210312" cy="0"/>
          </a:xfrm>
          <a:prstGeom prst="line">
            <a:avLst/>
          </a:prstGeom>
          <a:noFill/>
          <a:ln w="12700">
            <a:solidFill>
              <a:srgbClr val="28C7E8">
                <a:alpha val="98000"/>
              </a:srgbClr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3481578" y="2788920"/>
            <a:ext cx="2448306" cy="1078992"/>
          </a:xfrm>
          <a:prstGeom prst="roundRect">
            <a:avLst>
              <a:gd name="adj" fmla="val 9322"/>
            </a:avLst>
          </a:prstGeom>
          <a:solidFill>
            <a:srgbClr val="F0FBFD"/>
          </a:solidFill>
          <a:ln w="12700">
            <a:solidFill>
              <a:srgbClr val="317AF2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481578" y="2788920"/>
            <a:ext cx="64008" cy="1078992"/>
          </a:xfrm>
          <a:prstGeom prst="rect">
            <a:avLst/>
          </a:prstGeom>
          <a:solidFill>
            <a:srgbClr val="317A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664458" y="2944368"/>
            <a:ext cx="211912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SaaS mensual</a:t>
            </a:r>
            <a:endParaRPr lang="en-US" sz="1220" dirty="0"/>
          </a:p>
        </p:txBody>
      </p:sp>
      <p:sp>
        <p:nvSpPr>
          <p:cNvPr id="18" name="Text 14"/>
          <p:cNvSpPr/>
          <p:nvPr/>
        </p:nvSpPr>
        <p:spPr>
          <a:xfrm>
            <a:off x="3664458" y="3264408"/>
            <a:ext cx="208254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Planes por módulos, usuarios, tenants e integraciones.</a:t>
            </a:r>
            <a:endParaRPr lang="en-US" sz="1070" dirty="0"/>
          </a:p>
        </p:txBody>
      </p:sp>
      <p:sp>
        <p:nvSpPr>
          <p:cNvPr id="19" name="Shape 15"/>
          <p:cNvSpPr/>
          <p:nvPr/>
        </p:nvSpPr>
        <p:spPr>
          <a:xfrm>
            <a:off x="5975604" y="3328416"/>
            <a:ext cx="210312" cy="0"/>
          </a:xfrm>
          <a:prstGeom prst="line">
            <a:avLst/>
          </a:prstGeom>
          <a:noFill/>
          <a:ln w="12700">
            <a:solidFill>
              <a:srgbClr val="317AF2">
                <a:alpha val="98000"/>
              </a:srgbClr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6249924" y="2788920"/>
            <a:ext cx="2448306" cy="1078992"/>
          </a:xfrm>
          <a:prstGeom prst="roundRect">
            <a:avLst>
              <a:gd name="adj" fmla="val 9322"/>
            </a:avLst>
          </a:prstGeom>
          <a:solidFill>
            <a:srgbClr val="F0FBFD"/>
          </a:solidFill>
          <a:ln w="12700">
            <a:solidFill>
              <a:srgbClr val="34D399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49924" y="2788920"/>
            <a:ext cx="64008" cy="1078992"/>
          </a:xfrm>
          <a:prstGeom prst="rect">
            <a:avLst/>
          </a:prstGeom>
          <a:solidFill>
            <a:srgbClr val="34D39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432804" y="2944368"/>
            <a:ext cx="211912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Consumo</a:t>
            </a:r>
            <a:endParaRPr lang="en-US" sz="1220" dirty="0"/>
          </a:p>
        </p:txBody>
      </p:sp>
      <p:sp>
        <p:nvSpPr>
          <p:cNvPr id="23" name="Text 19"/>
          <p:cNvSpPr/>
          <p:nvPr/>
        </p:nvSpPr>
        <p:spPr>
          <a:xfrm>
            <a:off x="6432804" y="3264408"/>
            <a:ext cx="208254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IA, mensajes, ejecuciones, almacenamiento y procesamiento.</a:t>
            </a:r>
            <a:endParaRPr lang="en-US" sz="1070" dirty="0"/>
          </a:p>
        </p:txBody>
      </p:sp>
      <p:sp>
        <p:nvSpPr>
          <p:cNvPr id="24" name="Shape 20"/>
          <p:cNvSpPr/>
          <p:nvPr/>
        </p:nvSpPr>
        <p:spPr>
          <a:xfrm>
            <a:off x="8743950" y="3328416"/>
            <a:ext cx="210312" cy="0"/>
          </a:xfrm>
          <a:prstGeom prst="line">
            <a:avLst/>
          </a:prstGeom>
          <a:noFill/>
          <a:ln w="12700">
            <a:solidFill>
              <a:srgbClr val="34D399">
                <a:alpha val="98000"/>
              </a:srgbClr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9018270" y="2788920"/>
            <a:ext cx="2448306" cy="1078992"/>
          </a:xfrm>
          <a:prstGeom prst="roundRect">
            <a:avLst>
              <a:gd name="adj" fmla="val 9322"/>
            </a:avLst>
          </a:prstGeom>
          <a:solidFill>
            <a:srgbClr val="F0FBFD"/>
          </a:solidFill>
          <a:ln w="12700">
            <a:solidFill>
              <a:srgbClr val="6557E8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9018270" y="2788920"/>
            <a:ext cx="64008" cy="1078992"/>
          </a:xfrm>
          <a:prstGeom prst="rect">
            <a:avLst/>
          </a:prstGeom>
          <a:solidFill>
            <a:srgbClr val="655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201150" y="2944368"/>
            <a:ext cx="211912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Servicios</a:t>
            </a:r>
            <a:endParaRPr lang="en-US" sz="1220" dirty="0"/>
          </a:p>
        </p:txBody>
      </p:sp>
      <p:sp>
        <p:nvSpPr>
          <p:cNvPr id="28" name="Text 24"/>
          <p:cNvSpPr/>
          <p:nvPr/>
        </p:nvSpPr>
        <p:spPr>
          <a:xfrm>
            <a:off x="9201150" y="3264408"/>
            <a:ext cx="208254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Soporte, AI Ops, optimización y nuevas integraciones.</a:t>
            </a:r>
            <a:endParaRPr lang="en-US" sz="1070" dirty="0"/>
          </a:p>
        </p:txBody>
      </p:sp>
      <p:sp>
        <p:nvSpPr>
          <p:cNvPr id="29" name="Shape 25"/>
          <p:cNvSpPr/>
          <p:nvPr/>
        </p:nvSpPr>
        <p:spPr>
          <a:xfrm>
            <a:off x="896112" y="4846320"/>
            <a:ext cx="10012680" cy="713232"/>
          </a:xfrm>
          <a:prstGeom prst="roundRect">
            <a:avLst>
              <a:gd name="adj" fmla="val 16667"/>
            </a:avLst>
          </a:prstGeom>
          <a:solidFill>
            <a:srgbClr val="317AF2">
              <a:alpha val="14000"/>
            </a:srgbClr>
          </a:solidFill>
          <a:ln w="12700">
            <a:solidFill>
              <a:srgbClr val="317AF2">
                <a:alpha val="9000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115568" y="5010912"/>
            <a:ext cx="957376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42335"/>
                </a:solidFill>
              </a:rPr>
              <a:t>Rangos sugeridos</a:t>
            </a:r>
            <a:endParaRPr lang="en-US" sz="1320" dirty="0"/>
          </a:p>
        </p:txBody>
      </p:sp>
      <p:sp>
        <p:nvSpPr>
          <p:cNvPr id="31" name="Text 27"/>
          <p:cNvSpPr/>
          <p:nvPr/>
        </p:nvSpPr>
        <p:spPr>
          <a:xfrm>
            <a:off x="1115568" y="5376672"/>
            <a:ext cx="9573768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A77"/>
                </a:solidFill>
              </a:rPr>
              <a:t>Starter: USD 100–300/mes · Growth: USD 500–1.500/mes · Enterprise: desde USD 3.000/mes + implementación + consumo.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914400" y="5742432"/>
            <a:ext cx="9601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0B2A47"/>
                </a:solidFill>
              </a:rPr>
              <a:t>Objetivo: bajar costo marginal y aumentar velocidad de entrega con activos reutilizables.</a:t>
            </a:r>
            <a:endParaRPr lang="en-US" sz="13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abstract_technology_business_background_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simple_logo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690" y="292608"/>
            <a:ext cx="1536748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493776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17AF2"/>
                </a:solidFill>
              </a:rPr>
              <a:t>GO-TO-MARKET</a:t>
            </a:r>
            <a:endParaRPr lang="en-US" sz="850" dirty="0"/>
          </a:p>
        </p:txBody>
      </p:sp>
      <p:sp>
        <p:nvSpPr>
          <p:cNvPr id="5" name="Shape 1"/>
          <p:cNvSpPr/>
          <p:nvPr/>
        </p:nvSpPr>
        <p:spPr>
          <a:xfrm>
            <a:off x="658368" y="6300216"/>
            <a:ext cx="10863072" cy="0"/>
          </a:xfrm>
          <a:prstGeom prst="line">
            <a:avLst/>
          </a:prstGeom>
          <a:noFill/>
          <a:ln w="12700">
            <a:solidFill>
              <a:srgbClr val="A9E6E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58368" y="6428232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A77"/>
                </a:solidFill>
              </a:rPr>
              <a:t>Simple · tu empresa aumentada por IA</a:t>
            </a:r>
            <a:endParaRPr lang="en-US" sz="780" dirty="0"/>
          </a:p>
        </p:txBody>
      </p:sp>
      <p:sp>
        <p:nvSpPr>
          <p:cNvPr id="7" name="Text 3"/>
          <p:cNvSpPr/>
          <p:nvPr/>
        </p:nvSpPr>
        <p:spPr>
          <a:xfrm>
            <a:off x="11064240" y="64282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17AF2"/>
                </a:solidFill>
              </a:rPr>
              <a:t>14</a:t>
            </a:r>
            <a:endParaRPr lang="en-US" sz="780" dirty="0"/>
          </a:p>
        </p:txBody>
      </p:sp>
      <p:sp>
        <p:nvSpPr>
          <p:cNvPr id="8" name="Text 4"/>
          <p:cNvSpPr/>
          <p:nvPr/>
        </p:nvSpPr>
        <p:spPr>
          <a:xfrm>
            <a:off x="658368" y="96012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423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Vender alivio operativo primero. Plataforma después.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658368" y="1792224"/>
            <a:ext cx="78638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526A77"/>
                </a:solidFill>
              </a:rPr>
              <a:t>La venta empieza con un proceso que duele y puede mejorar rápido: WhatsApp, ventas, soporte, reportes, integraciones o cobranza.</a:t>
            </a:r>
            <a:endParaRPr lang="en-US" sz="1440" dirty="0"/>
          </a:p>
        </p:txBody>
      </p:sp>
      <p:sp>
        <p:nvSpPr>
          <p:cNvPr id="10" name="Shape 6"/>
          <p:cNvSpPr/>
          <p:nvPr/>
        </p:nvSpPr>
        <p:spPr>
          <a:xfrm>
            <a:off x="795528" y="2816352"/>
            <a:ext cx="146304" cy="146304"/>
          </a:xfrm>
          <a:prstGeom prst="ellipse">
            <a:avLst/>
          </a:prstGeom>
          <a:solidFill>
            <a:srgbClr val="28C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143000" y="2761488"/>
            <a:ext cx="2240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70" b="1" dirty="0">
                <a:solidFill>
                  <a:srgbClr val="142335"/>
                </a:solidFill>
              </a:rPr>
              <a:t>1. Diagnóstico express</a:t>
            </a:r>
            <a:endParaRPr lang="en-US" sz="1270" dirty="0"/>
          </a:p>
        </p:txBody>
      </p:sp>
      <p:sp>
        <p:nvSpPr>
          <p:cNvPr id="12" name="Text 8"/>
          <p:cNvSpPr/>
          <p:nvPr/>
        </p:nvSpPr>
        <p:spPr>
          <a:xfrm>
            <a:off x="3584448" y="2761488"/>
            <a:ext cx="7223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526A77"/>
                </a:solidFill>
              </a:rPr>
              <a:t>Mapa de sistemas, conversaciones, tareas manuales y oportunidades rápidas.</a:t>
            </a:r>
            <a:endParaRPr lang="en-US" sz="1230" dirty="0"/>
          </a:p>
        </p:txBody>
      </p:sp>
      <p:sp>
        <p:nvSpPr>
          <p:cNvPr id="13" name="Shape 9"/>
          <p:cNvSpPr/>
          <p:nvPr/>
        </p:nvSpPr>
        <p:spPr>
          <a:xfrm>
            <a:off x="795528" y="3474720"/>
            <a:ext cx="146304" cy="146304"/>
          </a:xfrm>
          <a:prstGeom prst="ellipse">
            <a:avLst/>
          </a:prstGeom>
          <a:solidFill>
            <a:srgbClr val="317A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43000" y="3419856"/>
            <a:ext cx="2240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70" b="1" dirty="0">
                <a:solidFill>
                  <a:srgbClr val="142335"/>
                </a:solidFill>
              </a:rPr>
              <a:t>2. Piloto pago</a:t>
            </a:r>
            <a:endParaRPr lang="en-US" sz="1270" dirty="0"/>
          </a:p>
        </p:txBody>
      </p:sp>
      <p:sp>
        <p:nvSpPr>
          <p:cNvPr id="15" name="Text 11"/>
          <p:cNvSpPr/>
          <p:nvPr/>
        </p:nvSpPr>
        <p:spPr>
          <a:xfrm>
            <a:off x="3584448" y="3419856"/>
            <a:ext cx="7223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526A77"/>
                </a:solidFill>
              </a:rPr>
              <a:t>Un flujo concreto con valor visible en semanas.</a:t>
            </a:r>
            <a:endParaRPr lang="en-US" sz="1230" dirty="0"/>
          </a:p>
        </p:txBody>
      </p:sp>
      <p:sp>
        <p:nvSpPr>
          <p:cNvPr id="16" name="Shape 12"/>
          <p:cNvSpPr/>
          <p:nvPr/>
        </p:nvSpPr>
        <p:spPr>
          <a:xfrm>
            <a:off x="795528" y="4133088"/>
            <a:ext cx="146304" cy="14630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43000" y="4078224"/>
            <a:ext cx="2240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70" b="1" dirty="0">
                <a:solidFill>
                  <a:srgbClr val="142335"/>
                </a:solidFill>
              </a:rPr>
              <a:t>3. Expansión modular</a:t>
            </a:r>
            <a:endParaRPr lang="en-US" sz="1270" dirty="0"/>
          </a:p>
        </p:txBody>
      </p:sp>
      <p:sp>
        <p:nvSpPr>
          <p:cNvPr id="18" name="Text 14"/>
          <p:cNvSpPr/>
          <p:nvPr/>
        </p:nvSpPr>
        <p:spPr>
          <a:xfrm>
            <a:off x="3584448" y="4078224"/>
            <a:ext cx="7223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526A77"/>
                </a:solidFill>
              </a:rPr>
              <a:t>Nuevos agentes, bots e integraciones conectados al mismo contexto.</a:t>
            </a:r>
            <a:endParaRPr lang="en-US" sz="1230" dirty="0"/>
          </a:p>
        </p:txBody>
      </p:sp>
      <p:sp>
        <p:nvSpPr>
          <p:cNvPr id="19" name="Shape 15"/>
          <p:cNvSpPr/>
          <p:nvPr/>
        </p:nvSpPr>
        <p:spPr>
          <a:xfrm>
            <a:off x="795528" y="4791456"/>
            <a:ext cx="146304" cy="146304"/>
          </a:xfrm>
          <a:prstGeom prst="ellipse">
            <a:avLst/>
          </a:prstGeom>
          <a:solidFill>
            <a:srgbClr val="655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43000" y="4736592"/>
            <a:ext cx="2240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70" b="1" dirty="0">
                <a:solidFill>
                  <a:srgbClr val="142335"/>
                </a:solidFill>
              </a:rPr>
              <a:t>4. Cuenta estratégica</a:t>
            </a:r>
            <a:endParaRPr lang="en-US" sz="1270" dirty="0"/>
          </a:p>
        </p:txBody>
      </p:sp>
      <p:sp>
        <p:nvSpPr>
          <p:cNvPr id="21" name="Text 17"/>
          <p:cNvSpPr/>
          <p:nvPr/>
        </p:nvSpPr>
        <p:spPr>
          <a:xfrm>
            <a:off x="3584448" y="4736592"/>
            <a:ext cx="7223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526A77"/>
                </a:solidFill>
              </a:rPr>
              <a:t>Simple como capa de operación inteligente de la empresa.</a:t>
            </a:r>
            <a:endParaRPr lang="en-US" sz="1230" dirty="0"/>
          </a:p>
        </p:txBody>
      </p:sp>
      <p:sp>
        <p:nvSpPr>
          <p:cNvPr id="22" name="Shape 18"/>
          <p:cNvSpPr/>
          <p:nvPr/>
        </p:nvSpPr>
        <p:spPr>
          <a:xfrm>
            <a:off x="960120" y="5504688"/>
            <a:ext cx="2971800" cy="512064"/>
          </a:xfrm>
          <a:prstGeom prst="roundRect">
            <a:avLst>
              <a:gd name="adj" fmla="val 23214"/>
            </a:avLst>
          </a:prstGeom>
          <a:solidFill>
            <a:srgbClr val="34D399">
              <a:alpha val="14000"/>
            </a:srgbClr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79576" y="5669280"/>
            <a:ext cx="253288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42335"/>
                </a:solidFill>
              </a:rPr>
              <a:t>Foco inicial</a:t>
            </a:r>
            <a:endParaRPr lang="en-US" sz="1320" dirty="0"/>
          </a:p>
        </p:txBody>
      </p:sp>
      <p:sp>
        <p:nvSpPr>
          <p:cNvPr id="24" name="Text 20"/>
          <p:cNvSpPr/>
          <p:nvPr/>
        </p:nvSpPr>
        <p:spPr>
          <a:xfrm>
            <a:off x="1179576" y="6035040"/>
            <a:ext cx="2532888" cy="-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A77"/>
                </a:solidFill>
              </a:rPr>
              <a:t>Retail, e-commerce y operaciones con mucho WhatsApp.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160520" y="5504688"/>
            <a:ext cx="2971800" cy="512064"/>
          </a:xfrm>
          <a:prstGeom prst="roundRect">
            <a:avLst>
              <a:gd name="adj" fmla="val 23214"/>
            </a:avLst>
          </a:prstGeom>
          <a:solidFill>
            <a:srgbClr val="28C7E8">
              <a:alpha val="14000"/>
            </a:srgbClr>
          </a:solidFill>
          <a:ln w="12700">
            <a:solidFill>
              <a:srgbClr val="28C7E8">
                <a:alpha val="9000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379976" y="5669280"/>
            <a:ext cx="253288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42335"/>
                </a:solidFill>
              </a:rPr>
              <a:t>Canal</a:t>
            </a:r>
            <a:endParaRPr lang="en-US" sz="1320" dirty="0"/>
          </a:p>
        </p:txBody>
      </p:sp>
      <p:sp>
        <p:nvSpPr>
          <p:cNvPr id="27" name="Text 23"/>
          <p:cNvSpPr/>
          <p:nvPr/>
        </p:nvSpPr>
        <p:spPr>
          <a:xfrm>
            <a:off x="4379976" y="6035040"/>
            <a:ext cx="2532888" cy="-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A77"/>
                </a:solidFill>
              </a:rPr>
              <a:t>Partners, integradores y casos propios.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7360920" y="5504688"/>
            <a:ext cx="2971800" cy="512064"/>
          </a:xfrm>
          <a:prstGeom prst="roundRect">
            <a:avLst>
              <a:gd name="adj" fmla="val 23214"/>
            </a:avLst>
          </a:prstGeom>
          <a:solidFill>
            <a:srgbClr val="317AF2">
              <a:alpha val="14000"/>
            </a:srgbClr>
          </a:solidFill>
          <a:ln w="12700">
            <a:solidFill>
              <a:srgbClr val="317AF2">
                <a:alpha val="9000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580376" y="5669280"/>
            <a:ext cx="253288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42335"/>
                </a:solidFill>
              </a:rPr>
              <a:t>Métrica</a:t>
            </a:r>
            <a:endParaRPr lang="en-US" sz="1320" dirty="0"/>
          </a:p>
        </p:txBody>
      </p:sp>
      <p:sp>
        <p:nvSpPr>
          <p:cNvPr id="30" name="Text 26"/>
          <p:cNvSpPr/>
          <p:nvPr/>
        </p:nvSpPr>
        <p:spPr>
          <a:xfrm>
            <a:off x="7580376" y="6035040"/>
            <a:ext cx="2532888" cy="-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A77"/>
                </a:solidFill>
              </a:rPr>
              <a:t>Tiempo ahorrado + operación controlada.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abstract_technology_business_background_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simple_logo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1606" y="960120"/>
            <a:ext cx="3442316" cy="10241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78992" y="2514600"/>
            <a:ext cx="10058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50" b="1" dirty="0">
                <a:solidFill>
                  <a:srgbClr val="142335"/>
                </a:solidFill>
              </a:rPr>
              <a:t>Tu empresa, pero más conectada, más inteligente y más humana.</a:t>
            </a:r>
            <a:endParaRPr lang="en-US" sz="3550" dirty="0"/>
          </a:p>
        </p:txBody>
      </p:sp>
      <p:sp>
        <p:nvSpPr>
          <p:cNvPr id="5" name="Text 1"/>
          <p:cNvSpPr/>
          <p:nvPr/>
        </p:nvSpPr>
        <p:spPr>
          <a:xfrm>
            <a:off x="1508760" y="3511296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20" dirty="0">
                <a:solidFill>
                  <a:srgbClr val="526A77"/>
                </a:solidFill>
              </a:rPr>
              <a:t>Conectá sistemas. Automatizá flujos. Activá agentes. Aumentá personas.</a:t>
            </a:r>
            <a:endParaRPr lang="en-US" sz="1620" dirty="0"/>
          </a:p>
        </p:txBody>
      </p:sp>
      <p:sp>
        <p:nvSpPr>
          <p:cNvPr id="6" name="Shape 2"/>
          <p:cNvSpPr/>
          <p:nvPr/>
        </p:nvSpPr>
        <p:spPr>
          <a:xfrm>
            <a:off x="2999232" y="4617720"/>
            <a:ext cx="1234440" cy="320040"/>
          </a:xfrm>
          <a:prstGeom prst="roundRect">
            <a:avLst>
              <a:gd name="adj" fmla="val 34286"/>
            </a:avLst>
          </a:prstGeom>
          <a:solidFill>
            <a:srgbClr val="317AF2">
              <a:alpha val="80000"/>
            </a:srgbClr>
          </a:solidFill>
          <a:ln w="12700">
            <a:solidFill>
              <a:srgbClr val="317AF2">
                <a:alpha val="7000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044952" y="4713732"/>
            <a:ext cx="11430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B2A47"/>
                </a:solidFill>
              </a:rPr>
              <a:t>IA aplicada</a:t>
            </a:r>
            <a:endParaRPr lang="en-US" sz="820" dirty="0"/>
          </a:p>
        </p:txBody>
      </p:sp>
      <p:sp>
        <p:nvSpPr>
          <p:cNvPr id="8" name="Shape 4"/>
          <p:cNvSpPr/>
          <p:nvPr/>
        </p:nvSpPr>
        <p:spPr>
          <a:xfrm>
            <a:off x="4553712" y="4617720"/>
            <a:ext cx="2011680" cy="320040"/>
          </a:xfrm>
          <a:prstGeom prst="roundRect">
            <a:avLst>
              <a:gd name="adj" fmla="val 34286"/>
            </a:avLst>
          </a:prstGeom>
          <a:solidFill>
            <a:srgbClr val="34D399">
              <a:alpha val="80000"/>
            </a:srgbClr>
          </a:solidFill>
          <a:ln w="12700">
            <a:solidFill>
              <a:srgbClr val="34D399">
                <a:alpha val="70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99432" y="4713732"/>
            <a:ext cx="192024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B2A47"/>
                </a:solidFill>
              </a:rPr>
              <a:t>comunicación natural</a:t>
            </a:r>
            <a:endParaRPr lang="en-US" sz="820" dirty="0"/>
          </a:p>
        </p:txBody>
      </p:sp>
      <p:sp>
        <p:nvSpPr>
          <p:cNvPr id="10" name="Shape 6"/>
          <p:cNvSpPr/>
          <p:nvPr/>
        </p:nvSpPr>
        <p:spPr>
          <a:xfrm>
            <a:off x="6876288" y="4617720"/>
            <a:ext cx="1600200" cy="320040"/>
          </a:xfrm>
          <a:prstGeom prst="roundRect">
            <a:avLst>
              <a:gd name="adj" fmla="val 34286"/>
            </a:avLst>
          </a:prstGeom>
          <a:solidFill>
            <a:srgbClr val="6557E8">
              <a:alpha val="80000"/>
            </a:srgbClr>
          </a:solidFill>
          <a:ln w="12700">
            <a:solidFill>
              <a:srgbClr val="6557E8">
                <a:alpha val="70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922008" y="4713732"/>
            <a:ext cx="150876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B2A47"/>
                </a:solidFill>
              </a:rPr>
              <a:t>bots y agentes</a:t>
            </a:r>
            <a:endParaRPr lang="en-US" sz="820" dirty="0"/>
          </a:p>
        </p:txBody>
      </p:sp>
      <p:sp>
        <p:nvSpPr>
          <p:cNvPr id="12" name="Shape 8"/>
          <p:cNvSpPr/>
          <p:nvPr/>
        </p:nvSpPr>
        <p:spPr>
          <a:xfrm>
            <a:off x="8778240" y="4617720"/>
            <a:ext cx="1874520" cy="320040"/>
          </a:xfrm>
          <a:prstGeom prst="roundRect">
            <a:avLst>
              <a:gd name="adj" fmla="val 34286"/>
            </a:avLst>
          </a:prstGeom>
          <a:solidFill>
            <a:srgbClr val="28C7E8">
              <a:alpha val="80000"/>
            </a:srgbClr>
          </a:solidFill>
          <a:ln w="12700">
            <a:solidFill>
              <a:srgbClr val="28C7E8">
                <a:alpha val="70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823960" y="4713732"/>
            <a:ext cx="178308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B2A47"/>
                </a:solidFill>
              </a:rPr>
              <a:t>operación conectada</a:t>
            </a:r>
            <a:endParaRPr lang="en-US" sz="820" dirty="0"/>
          </a:p>
        </p:txBody>
      </p:sp>
      <p:sp>
        <p:nvSpPr>
          <p:cNvPr id="14" name="Shape 10"/>
          <p:cNvSpPr/>
          <p:nvPr/>
        </p:nvSpPr>
        <p:spPr>
          <a:xfrm>
            <a:off x="658368" y="6300216"/>
            <a:ext cx="10863072" cy="0"/>
          </a:xfrm>
          <a:prstGeom prst="line">
            <a:avLst/>
          </a:prstGeom>
          <a:noFill/>
          <a:ln w="12700">
            <a:solidFill>
              <a:srgbClr val="A9E6E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58368" y="6428232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A77"/>
                </a:solidFill>
              </a:rPr>
              <a:t>Simple · tu empresa aumentada por IA</a:t>
            </a:r>
            <a:endParaRPr lang="en-US" sz="780" dirty="0"/>
          </a:p>
        </p:txBody>
      </p:sp>
      <p:sp>
        <p:nvSpPr>
          <p:cNvPr id="16" name="Text 12"/>
          <p:cNvSpPr/>
          <p:nvPr/>
        </p:nvSpPr>
        <p:spPr>
          <a:xfrm>
            <a:off x="11064240" y="64282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17AF2"/>
                </a:solidFill>
              </a:rPr>
              <a:t>15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Simple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- Tu empresa aumentada por IA</dc:title>
  <dc:subject>Pitch deck - Simple</dc:subject>
  <dc:creator>Simple</dc:creator>
  <cp:lastModifiedBy>Simple</cp:lastModifiedBy>
  <cp:revision>1</cp:revision>
  <dcterms:created xsi:type="dcterms:W3CDTF">2026-05-23T17:01:34Z</dcterms:created>
  <dcterms:modified xsi:type="dcterms:W3CDTF">2026-05-23T17:01:34Z</dcterms:modified>
</cp:coreProperties>
</file>