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155" y="1042416"/>
            <a:ext cx="3503786" cy="10424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2633472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2335"/>
                </a:solidFill>
              </a:rPr>
              <a:t>Tu empresa aumentada por IA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1572768" y="352044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26A77"/>
                </a:solidFill>
              </a:rPr>
              <a:t>Agentes, bots, datos, integraciones y flujos trabajando de forma orgánica con tus equipos.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2907792" y="4590288"/>
            <a:ext cx="1965960" cy="320040"/>
          </a:xfrm>
          <a:prstGeom prst="roundRect">
            <a:avLst>
              <a:gd name="adj" fmla="val 34286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953512" y="4686300"/>
            <a:ext cx="1874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Comunicación natural</a:t>
            </a:r>
            <a:endParaRPr lang="en-US" sz="820" dirty="0"/>
          </a:p>
        </p:txBody>
      </p:sp>
      <p:sp>
        <p:nvSpPr>
          <p:cNvPr id="8" name="Shape 4"/>
          <p:cNvSpPr/>
          <p:nvPr/>
        </p:nvSpPr>
        <p:spPr>
          <a:xfrm>
            <a:off x="5193792" y="4590288"/>
            <a:ext cx="1298448" cy="320040"/>
          </a:xfrm>
          <a:prstGeom prst="roundRect">
            <a:avLst>
              <a:gd name="adj" fmla="val 34286"/>
            </a:avLst>
          </a:prstGeom>
          <a:solidFill>
            <a:srgbClr val="317AF2">
              <a:alpha val="80000"/>
            </a:srgbClr>
          </a:solidFill>
          <a:ln w="12700">
            <a:solidFill>
              <a:srgbClr val="317AF2">
                <a:alpha val="7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39512" y="4686300"/>
            <a:ext cx="1207008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Agentes IA</a:t>
            </a:r>
            <a:endParaRPr lang="en-US" sz="820" dirty="0"/>
          </a:p>
        </p:txBody>
      </p:sp>
      <p:sp>
        <p:nvSpPr>
          <p:cNvPr id="10" name="Shape 6"/>
          <p:cNvSpPr/>
          <p:nvPr/>
        </p:nvSpPr>
        <p:spPr>
          <a:xfrm>
            <a:off x="6839712" y="4590288"/>
            <a:ext cx="1691640" cy="320040"/>
          </a:xfrm>
          <a:prstGeom prst="roundRect">
            <a:avLst>
              <a:gd name="adj" fmla="val 34286"/>
            </a:avLst>
          </a:prstGeom>
          <a:solidFill>
            <a:srgbClr val="28C7E8">
              <a:alpha val="80000"/>
            </a:srgbClr>
          </a:solidFill>
          <a:ln w="12700">
            <a:solidFill>
              <a:srgbClr val="28C7E8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85432" y="4686300"/>
            <a:ext cx="16002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Flujos conectados</a:t>
            </a:r>
            <a:endParaRPr lang="en-US" sz="820" dirty="0"/>
          </a:p>
        </p:txBody>
      </p:sp>
      <p:sp>
        <p:nvSpPr>
          <p:cNvPr id="12" name="Shape 8"/>
          <p:cNvSpPr/>
          <p:nvPr/>
        </p:nvSpPr>
        <p:spPr>
          <a:xfrm>
            <a:off x="8823960" y="4590288"/>
            <a:ext cx="1645920" cy="320040"/>
          </a:xfrm>
          <a:prstGeom prst="roundRect">
            <a:avLst>
              <a:gd name="adj" fmla="val 34286"/>
            </a:avLst>
          </a:prstGeom>
          <a:solidFill>
            <a:srgbClr val="6557E8">
              <a:alpha val="80000"/>
            </a:srgbClr>
          </a:solidFill>
          <a:ln w="12700">
            <a:solidFill>
              <a:srgbClr val="6557E8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69680" y="4686300"/>
            <a:ext cx="15544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Operación humana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EL DOLOR REAL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02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 empresa ya habla por todos lados. Tus sistemas no siempre escuchan.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680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26A77"/>
                </a:solidFill>
              </a:rPr>
              <a:t>Mensajes, audios, mails, llamadas, planillas, CRM, ERP, pagos y logística. La operación vive en conversaciones, pero la tecnología suele quedar separada.</a:t>
            </a:r>
            <a:endParaRPr lang="en-US" sz="1420" dirty="0"/>
          </a:p>
        </p:txBody>
      </p:sp>
      <p:sp>
        <p:nvSpPr>
          <p:cNvPr id="10" name="Shape 6"/>
          <p:cNvSpPr/>
          <p:nvPr/>
        </p:nvSpPr>
        <p:spPr>
          <a:xfrm>
            <a:off x="859536" y="2889504"/>
            <a:ext cx="0" cy="804672"/>
          </a:xfrm>
          <a:prstGeom prst="line">
            <a:avLst/>
          </a:prstGeom>
          <a:noFill/>
          <a:ln w="12700">
            <a:solidFill>
              <a:srgbClr val="0B2A4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2862072"/>
            <a:ext cx="49377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B2A47"/>
                </a:solidFill>
              </a:rPr>
              <a:t>El problema no es falta de software.</a:t>
            </a:r>
            <a:endParaRPr lang="en-US" sz="1720" dirty="0"/>
          </a:p>
          <a:p>
            <a:pPr algn="l" indent="0" marL="0">
              <a:buNone/>
            </a:pPr>
            <a:r>
              <a:rPr lang="en-US" sz="1720" b="1" dirty="0">
                <a:solidFill>
                  <a:srgbClr val="0B2A47"/>
                </a:solidFill>
              </a:rPr>
              <a:t>El problema es falta de coordinación.</a:t>
            </a:r>
            <a:endParaRPr lang="en-US" sz="1720" dirty="0"/>
          </a:p>
        </p:txBody>
      </p:sp>
      <p:sp>
        <p:nvSpPr>
          <p:cNvPr id="12" name="Shape 8"/>
          <p:cNvSpPr/>
          <p:nvPr/>
        </p:nvSpPr>
        <p:spPr>
          <a:xfrm>
            <a:off x="6537960" y="2514600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514600"/>
            <a:ext cx="64008" cy="786384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20840" y="267004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Canales</a:t>
            </a:r>
            <a:endParaRPr lang="en-US" sz="1220" dirty="0"/>
          </a:p>
        </p:txBody>
      </p:sp>
      <p:sp>
        <p:nvSpPr>
          <p:cNvPr id="15" name="Text 11"/>
          <p:cNvSpPr/>
          <p:nvPr/>
        </p:nvSpPr>
        <p:spPr>
          <a:xfrm>
            <a:off x="6720840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WhatsApp, email, audios.</a:t>
            </a:r>
            <a:endParaRPr lang="en-US" sz="1070" dirty="0"/>
          </a:p>
        </p:txBody>
      </p:sp>
      <p:sp>
        <p:nvSpPr>
          <p:cNvPr id="16" name="Shape 12"/>
          <p:cNvSpPr/>
          <p:nvPr/>
        </p:nvSpPr>
        <p:spPr>
          <a:xfrm>
            <a:off x="8887968" y="2514600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87968" y="2514600"/>
            <a:ext cx="64008" cy="786384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70848" y="267004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Sistemas</a:t>
            </a:r>
            <a:endParaRPr lang="en-US" sz="1220" dirty="0"/>
          </a:p>
        </p:txBody>
      </p:sp>
      <p:sp>
        <p:nvSpPr>
          <p:cNvPr id="19" name="Text 15"/>
          <p:cNvSpPr/>
          <p:nvPr/>
        </p:nvSpPr>
        <p:spPr>
          <a:xfrm>
            <a:off x="907084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CRM, ERP, pagos.</a:t>
            </a:r>
            <a:endParaRPr lang="en-US" sz="1070" dirty="0"/>
          </a:p>
        </p:txBody>
      </p:sp>
      <p:sp>
        <p:nvSpPr>
          <p:cNvPr id="20" name="Shape 16"/>
          <p:cNvSpPr/>
          <p:nvPr/>
        </p:nvSpPr>
        <p:spPr>
          <a:xfrm>
            <a:off x="6537960" y="3858768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37960" y="3858768"/>
            <a:ext cx="64008" cy="786384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4014216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Datos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72084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Excel, reportes, archivos.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887968" y="3858768"/>
            <a:ext cx="1828800" cy="786384"/>
          </a:xfrm>
          <a:prstGeom prst="roundRect">
            <a:avLst>
              <a:gd name="adj" fmla="val 12791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887968" y="3858768"/>
            <a:ext cx="64008" cy="786384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70848" y="4014216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Personas</a:t>
            </a:r>
            <a:endParaRPr lang="en-US" sz="1220" dirty="0"/>
          </a:p>
        </p:txBody>
      </p:sp>
      <p:sp>
        <p:nvSpPr>
          <p:cNvPr id="27" name="Text 23"/>
          <p:cNvSpPr/>
          <p:nvPr/>
        </p:nvSpPr>
        <p:spPr>
          <a:xfrm>
            <a:off x="9070848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Deciden y resuelven excepciones.</a:t>
            </a:r>
            <a:endParaRPr lang="en-US" sz="1070" dirty="0"/>
          </a:p>
        </p:txBody>
      </p:sp>
      <p:sp>
        <p:nvSpPr>
          <p:cNvPr id="28" name="Text 24"/>
          <p:cNvSpPr/>
          <p:nvPr/>
        </p:nvSpPr>
        <p:spPr>
          <a:xfrm>
            <a:off x="6629400" y="5157216"/>
            <a:ext cx="4389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B2A47"/>
                </a:solidFill>
              </a:rPr>
              <a:t>Simple aparece para unir esas conversaciones con acciones reales.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LA PROMESA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03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sumes otra herramienta. Hacé que las que ya tenés trabajen juntas.</a:t>
            </a:r>
            <a:endParaRPr lang="en-US" sz="30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223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conecta lo que tu equipo dice, lo que tus sistemas saben y lo que tus procesos necesitan ejecutar.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Comunicación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WhatsApp, email, audio, web y grupos.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Contexto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CRM, ERP, bases, documentos y reglas.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IA aplicada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Agentes, bots, copilotos y Brainiac.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Acción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Flujos, alertas, tareas, cobros y reportes.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60120" y="4882896"/>
            <a:ext cx="9829800" cy="713232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79576" y="5047488"/>
            <a:ext cx="9390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Resultado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79576" y="5413248"/>
            <a:ext cx="9390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Menos fricción para las personas. Más velocidad, trazabilidad y control para la empresa.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COMUNICACIÓN ORGÁNICA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04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se adapta a cómo se comunican los humanos.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6949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La IA no debe obligar a las personas a cambiar de idioma. Debe entender contexto, intención, urgencia y canal.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70632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Mensaje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Una persona escribe, habla, consulta o pide algo.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10128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70632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Comprensión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Simple identifica intención, datos clave y contexto.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10128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70632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Coordinación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Agente, bot y humano comparten la misma información.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10128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70632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70632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26080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Resolución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46120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Se responde, deriva, consulta o ejecuta un flujo.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896112" y="4828032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15568" y="4992624"/>
            <a:ext cx="4361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Más humano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15568" y="5358384"/>
            <a:ext cx="436168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La persona aporta criterio y relación; la IA ordena, recuerda y ejecuta.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925312" y="4828032"/>
            <a:ext cx="4800600" cy="777240"/>
          </a:xfrm>
          <a:prstGeom prst="roundRect">
            <a:avLst>
              <a:gd name="adj" fmla="val 15294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144768" y="4992624"/>
            <a:ext cx="4361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Más eficiente</a:t>
            </a:r>
            <a:endParaRPr lang="en-US" sz="1320" dirty="0"/>
          </a:p>
        </p:txBody>
      </p:sp>
      <p:sp>
        <p:nvSpPr>
          <p:cNvPr id="34" name="Text 30"/>
          <p:cNvSpPr/>
          <p:nvPr/>
        </p:nvSpPr>
        <p:spPr>
          <a:xfrm>
            <a:off x="6144768" y="5358384"/>
            <a:ext cx="436168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Cada conversación puede convertirse en tarea, dato, venta, alerta o aprendizaje.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AGENTES, BOTS Y COPILOTOS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05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no es solo IA: es un ecosistema operativo de agentes y flujos.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Cada agente tiene una función concreta, pero todos trabajan sobre el mismo contexto para que la operación se sienta natural.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49808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761488"/>
            <a:ext cx="64008" cy="94183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Ventas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932688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Seguimiento, propuestas, publicaciones y oportunidades.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425696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25696" y="2761488"/>
            <a:ext cx="64008" cy="94183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08576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Soporte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4608576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Clasifica, responde, deriva y deja trazabilidad.</a:t>
            </a:r>
            <a:endParaRPr lang="en-US" sz="1070" dirty="0"/>
          </a:p>
        </p:txBody>
      </p:sp>
      <p:sp>
        <p:nvSpPr>
          <p:cNvPr id="18" name="Shape 14"/>
          <p:cNvSpPr/>
          <p:nvPr/>
        </p:nvSpPr>
        <p:spPr>
          <a:xfrm>
            <a:off x="8101584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01584" y="2761488"/>
            <a:ext cx="64008" cy="94183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84464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Operaciones</a:t>
            </a:r>
            <a:endParaRPr lang="en-US" sz="1260" dirty="0"/>
          </a:p>
        </p:txBody>
      </p:sp>
      <p:sp>
        <p:nvSpPr>
          <p:cNvPr id="21" name="Text 17"/>
          <p:cNvSpPr/>
          <p:nvPr/>
        </p:nvSpPr>
        <p:spPr>
          <a:xfrm>
            <a:off x="8284464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Controla estados, ejecuta workflows y alerta desvíos.</a:t>
            </a:r>
            <a:endParaRPr lang="en-US" sz="1070" dirty="0"/>
          </a:p>
        </p:txBody>
      </p:sp>
      <p:sp>
        <p:nvSpPr>
          <p:cNvPr id="22" name="Shape 18"/>
          <p:cNvSpPr/>
          <p:nvPr/>
        </p:nvSpPr>
        <p:spPr>
          <a:xfrm>
            <a:off x="749808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9808" y="4041648"/>
            <a:ext cx="64008" cy="94183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32688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Administración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932688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Cobros, reportes, conciliaciones y contratos.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4425696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425696" y="4041648"/>
            <a:ext cx="64008" cy="941832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08576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Bot transaccional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4608576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Confirma pagos, notifica y actualiza sistemas.</a:t>
            </a:r>
            <a:endParaRPr lang="en-US" sz="1070" dirty="0"/>
          </a:p>
        </p:txBody>
      </p:sp>
      <p:sp>
        <p:nvSpPr>
          <p:cNvPr id="30" name="Shape 26"/>
          <p:cNvSpPr/>
          <p:nvPr/>
        </p:nvSpPr>
        <p:spPr>
          <a:xfrm>
            <a:off x="8101584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16B8B6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101584" y="4041648"/>
            <a:ext cx="64008" cy="941832"/>
          </a:xfrm>
          <a:prstGeom prst="rect">
            <a:avLst/>
          </a:prstGeom>
          <a:solidFill>
            <a:srgbClr val="16B8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284464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Copiloto interno</a:t>
            </a:r>
            <a:endParaRPr lang="en-US" sz="1260" dirty="0"/>
          </a:p>
        </p:txBody>
      </p:sp>
      <p:sp>
        <p:nvSpPr>
          <p:cNvPr id="33" name="Text 29"/>
          <p:cNvSpPr/>
          <p:nvPr/>
        </p:nvSpPr>
        <p:spPr>
          <a:xfrm>
            <a:off x="8284464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Ayuda a configurar, documentar y mejorar Simple.</a:t>
            </a:r>
            <a:endParaRPr lang="en-US" sz="1070" dirty="0"/>
          </a:p>
        </p:txBody>
      </p:sp>
      <p:sp>
        <p:nvSpPr>
          <p:cNvPr id="34" name="Text 30"/>
          <p:cNvSpPr/>
          <p:nvPr/>
        </p:nvSpPr>
        <p:spPr>
          <a:xfrm>
            <a:off x="868680" y="5641848"/>
            <a:ext cx="9966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A47"/>
                </a:solidFill>
              </a:rPr>
              <a:t>Los bots resuelven lo repetitivo. Los humanos intervienen donde hay criterio, relación y decisiones importantes.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CÓMO FUNCIONA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06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 → comprender → decidir → ejecutar → aprender.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6809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26A77"/>
                </a:solidFill>
              </a:rPr>
              <a:t>El valor no está en una respuesta aislada: está en convertir cada interacción en una acción trazable y cada acción en aprendizaje.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603504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3504" y="2788920"/>
            <a:ext cx="64008" cy="1024128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Conectar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786384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Canales, sistemas, datos y documentos.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2591410" y="3300984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65730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65730" y="2788920"/>
            <a:ext cx="64008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48610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Comprender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048610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Intención, contexto, reglas y prioridad.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4853635" y="3300984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7955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27955" y="2788920"/>
            <a:ext cx="64008" cy="1024128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10835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Decidir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5310835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Siguiente mejor acción con IA y criterio.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7115861" y="3300984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390181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390181" y="2788920"/>
            <a:ext cx="64008" cy="1024128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73061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Ejecutar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7573061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Workflow, respuesta, tarea o integración.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378086" y="3300984"/>
            <a:ext cx="210312" cy="0"/>
          </a:xfrm>
          <a:prstGeom prst="line">
            <a:avLst/>
          </a:prstGeom>
          <a:noFill/>
          <a:ln w="12700">
            <a:solidFill>
              <a:srgbClr val="655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9652406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652406" y="2788920"/>
            <a:ext cx="64008" cy="1024128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835286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Aprender</a:t>
            </a:r>
            <a:endParaRPr lang="en-US" sz="1220" dirty="0"/>
          </a:p>
        </p:txBody>
      </p:sp>
      <p:sp>
        <p:nvSpPr>
          <p:cNvPr id="33" name="Text 29"/>
          <p:cNvSpPr/>
          <p:nvPr/>
        </p:nvSpPr>
        <p:spPr>
          <a:xfrm>
            <a:off x="9835286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Feedback, métricas, reglas y mejora.</a:t>
            </a:r>
            <a:endParaRPr lang="en-US" sz="1070" dirty="0"/>
          </a:p>
        </p:txBody>
      </p:sp>
      <p:sp>
        <p:nvSpPr>
          <p:cNvPr id="34" name="Shape 30"/>
          <p:cNvSpPr/>
          <p:nvPr/>
        </p:nvSpPr>
        <p:spPr>
          <a:xfrm>
            <a:off x="1143000" y="4901184"/>
            <a:ext cx="9464040" cy="694944"/>
          </a:xfrm>
          <a:prstGeom prst="roundRect">
            <a:avLst>
              <a:gd name="adj" fmla="val 17105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362456" y="5065776"/>
            <a:ext cx="90251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Simple transforma comunicación dispersa en operación coordinada.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LA TRANSFORMACIÓN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07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operación fragmentada a empresa aumentada.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223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La diferencia se ve en el día a día: menos tareas manuales, menos pérdida de contexto y más capacidad de respuesta.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41248" y="2761488"/>
            <a:ext cx="2926080" cy="1691640"/>
          </a:xfrm>
          <a:prstGeom prst="roundRect">
            <a:avLst>
              <a:gd name="adj" fmla="val 5946"/>
            </a:avLst>
          </a:prstGeom>
          <a:solidFill>
            <a:srgbClr val="F0FBFD"/>
          </a:solidFill>
          <a:ln w="12700">
            <a:solidFill>
              <a:srgbClr val="E76775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1248" y="2761488"/>
            <a:ext cx="64008" cy="1691640"/>
          </a:xfrm>
          <a:prstGeom prst="rect">
            <a:avLst/>
          </a:prstGeom>
          <a:solidFill>
            <a:srgbClr val="E767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24128" y="2916936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335"/>
                </a:solidFill>
              </a:rPr>
              <a:t>Antes</a:t>
            </a:r>
            <a:endParaRPr lang="en-US" sz="1480" dirty="0"/>
          </a:p>
        </p:txBody>
      </p:sp>
      <p:sp>
        <p:nvSpPr>
          <p:cNvPr id="13" name="Text 9"/>
          <p:cNvSpPr/>
          <p:nvPr/>
        </p:nvSpPr>
        <p:spPr>
          <a:xfrm>
            <a:off x="1024128" y="3236976"/>
            <a:ext cx="2560320" cy="1161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Mensajes perdidos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Copy/paste entre sistemas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Reportes tardíos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Decisiones con datos incompletos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005072" y="3611880"/>
            <a:ext cx="1133856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13248" y="2761488"/>
            <a:ext cx="2926080" cy="1691640"/>
          </a:xfrm>
          <a:prstGeom prst="roundRect">
            <a:avLst>
              <a:gd name="adj" fmla="val 5946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13248" y="2761488"/>
            <a:ext cx="64008" cy="1691640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96128" y="2916936"/>
            <a:ext cx="25968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42335"/>
                </a:solidFill>
              </a:rPr>
              <a:t>Con Simple</a:t>
            </a:r>
            <a:endParaRPr lang="en-US" sz="1480" dirty="0"/>
          </a:p>
        </p:txBody>
      </p:sp>
      <p:sp>
        <p:nvSpPr>
          <p:cNvPr id="18" name="Text 14"/>
          <p:cNvSpPr/>
          <p:nvPr/>
        </p:nvSpPr>
        <p:spPr>
          <a:xfrm>
            <a:off x="5596128" y="3236976"/>
            <a:ext cx="2560320" cy="1161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Contexto unificado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Agentes coordinados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Flujos automáticos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Trazabilidad y aprendizaje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8577072" y="3611880"/>
            <a:ext cx="969264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9784080" y="2761488"/>
            <a:ext cx="1508760" cy="1691640"/>
          </a:xfrm>
          <a:prstGeom prst="roundRect">
            <a:avLst>
              <a:gd name="adj" fmla="val 6667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784080" y="2761488"/>
            <a:ext cx="64008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966960" y="2916936"/>
            <a:ext cx="1179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335"/>
                </a:solidFill>
              </a:rPr>
              <a:t>Después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966960" y="3236976"/>
            <a:ext cx="1143000" cy="1161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Más control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Más velocidad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Más foco humano</a:t>
            </a:r>
            <a:endParaRPr lang="en-US" sz="1070" dirty="0"/>
          </a:p>
        </p:txBody>
      </p:sp>
      <p:sp>
        <p:nvSpPr>
          <p:cNvPr id="24" name="Text 20"/>
          <p:cNvSpPr/>
          <p:nvPr/>
        </p:nvSpPr>
        <p:spPr>
          <a:xfrm>
            <a:off x="896112" y="5257800"/>
            <a:ext cx="8778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B2A47"/>
                </a:solidFill>
              </a:rPr>
              <a:t>La empresa no se vuelve más compleja: se vuelve más inteligente.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CASO DE USO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08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Comercio conectado: vender, cobrar y entregar sin perder contexto.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puede llevar un producto desde catálogo o conversación hasta publicación, venta, cobro, entrega y aprendizaje.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03504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3504" y="2788920"/>
            <a:ext cx="64008" cy="1024128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Producto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786384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Imagen, texto, stock o catálogo.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2591410" y="3300984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65730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65730" y="2788920"/>
            <a:ext cx="64008" cy="1024128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48610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Brainiac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048610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Categoriza, sugiere precio y canal.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4853635" y="3300984"/>
            <a:ext cx="210312" cy="0"/>
          </a:xfrm>
          <a:prstGeom prst="line">
            <a:avLst/>
          </a:prstGeom>
          <a:noFill/>
          <a:ln w="12700">
            <a:solidFill>
              <a:srgbClr val="655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7955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27955" y="2788920"/>
            <a:ext cx="64008" cy="1024128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10835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Publica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5310835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E-commerce, redes o marketplace.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7115861" y="3300984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390181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390181" y="2788920"/>
            <a:ext cx="64008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73061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Conversación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7573061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Bot + humano atienden y convierten.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378086" y="3300984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9652406" y="2788920"/>
            <a:ext cx="1942186" cy="1024128"/>
          </a:xfrm>
          <a:prstGeom prst="roundRect">
            <a:avLst>
              <a:gd name="adj" fmla="val 9821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9652406" y="2788920"/>
            <a:ext cx="64008" cy="1024128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835286" y="2944368"/>
            <a:ext cx="161300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Entrega</a:t>
            </a:r>
            <a:endParaRPr lang="en-US" sz="1220" dirty="0"/>
          </a:p>
        </p:txBody>
      </p:sp>
      <p:sp>
        <p:nvSpPr>
          <p:cNvPr id="33" name="Text 29"/>
          <p:cNvSpPr/>
          <p:nvPr/>
        </p:nvSpPr>
        <p:spPr>
          <a:xfrm>
            <a:off x="9835286" y="3264408"/>
            <a:ext cx="157642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Pago, logística y seguimiento.</a:t>
            </a:r>
            <a:endParaRPr lang="en-US" sz="1070" dirty="0"/>
          </a:p>
        </p:txBody>
      </p:sp>
      <p:sp>
        <p:nvSpPr>
          <p:cNvPr id="34" name="Shape 30"/>
          <p:cNvSpPr/>
          <p:nvPr/>
        </p:nvSpPr>
        <p:spPr>
          <a:xfrm>
            <a:off x="1143000" y="4882896"/>
            <a:ext cx="9464040" cy="713232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362456" y="5047488"/>
            <a:ext cx="90251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Lo deseable</a:t>
            </a:r>
            <a:endParaRPr lang="en-US" sz="1320" dirty="0"/>
          </a:p>
        </p:txBody>
      </p:sp>
      <p:sp>
        <p:nvSpPr>
          <p:cNvPr id="36" name="Text 32"/>
          <p:cNvSpPr/>
          <p:nvPr/>
        </p:nvSpPr>
        <p:spPr>
          <a:xfrm>
            <a:off x="1362456" y="5413248"/>
            <a:ext cx="90251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Un equipo chico puede vender más canales con más consistencia y menos trabajo manual.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CASO DE USO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09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WhatsApp se convierte en una entrada ordenada a la operación.</a:t>
            </a:r>
            <a:endParaRPr lang="en-US" sz="30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06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No se trata solo de responder mensajes: se trata de entender intención, buscar contexto y ejecutar la acción correcta.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Cliente escribe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Consulta, pedido, reclamo o pago.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Simple entiende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Detecta intención y urgencia.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Busca contexto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CRM, ERP, pagos, stock o historial.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Acciona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Responde, crea tarea, deriva o ejecuta.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60120" y="4882896"/>
            <a:ext cx="4526280" cy="713232"/>
          </a:xfrm>
          <a:prstGeom prst="roundRect">
            <a:avLst>
              <a:gd name="adj" fmla="val 16667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79576" y="5047488"/>
            <a:ext cx="4087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Human-in-the-loop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79576" y="5413248"/>
            <a:ext cx="40873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El bot resuelve lo repetitivo y el humano entra cuando agrega valor.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806440" y="4882896"/>
            <a:ext cx="4526280" cy="713232"/>
          </a:xfrm>
          <a:prstGeom prst="roundRect">
            <a:avLst>
              <a:gd name="adj" fmla="val 16667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025896" y="5047488"/>
            <a:ext cx="4087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Operación medible</a:t>
            </a:r>
            <a:endParaRPr lang="en-US" sz="1320" dirty="0"/>
          </a:p>
        </p:txBody>
      </p:sp>
      <p:sp>
        <p:nvSpPr>
          <p:cNvPr id="34" name="Text 30"/>
          <p:cNvSpPr/>
          <p:nvPr/>
        </p:nvSpPr>
        <p:spPr>
          <a:xfrm>
            <a:off x="6025896" y="5413248"/>
            <a:ext cx="40873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Cada conversación deja datos, métricas, trazabilidad y aprendizaje.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BRAINIAC + ESPECIALISTAS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10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mejora porque hay especialistas que saben aplicarla.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combina herramientas con criterio humano: reglas, prompts, integraciones, validación, datos y mejora continua.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Datos reales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Conversaciones, eventos, ventas, logs y resultados.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Brainiac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Modelos, agentes, reglas y decisiones.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655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Acciones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Respuestas, workflows, alertas y recomendaciones.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Feedback experto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Especialistas validan, ajustan y mejoran.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960120" y="4882896"/>
            <a:ext cx="9829800" cy="713232"/>
          </a:xfrm>
          <a:prstGeom prst="roundRect">
            <a:avLst>
              <a:gd name="adj" fmla="val 16667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79576" y="5047488"/>
            <a:ext cx="9390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En Simple, cada persona no solo usa IA: mejora la aplicación de IA.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MODELO OPERATIVO SIMPLE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11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Equipos mínimos de alto impacto, aumentados por herramientas.</a:t>
            </a:r>
            <a:endParaRPr lang="en-US" sz="30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6949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Simple también se opera como lo que vende: una empresa liviana, conectada y aumentada por IA.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14400" y="2834640"/>
            <a:ext cx="3139440" cy="1143000"/>
          </a:xfrm>
          <a:prstGeom prst="roundRect">
            <a:avLst>
              <a:gd name="adj" fmla="val 8800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2834640"/>
            <a:ext cx="64008" cy="1143000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2990088"/>
            <a:ext cx="28102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Especialista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1097280" y="3310128"/>
            <a:ext cx="27736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Criterio, negocio, contexto y diseño de procesos.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099560" y="3406140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373880" y="2834640"/>
            <a:ext cx="3139440" cy="1143000"/>
          </a:xfrm>
          <a:prstGeom prst="roundRect">
            <a:avLst>
              <a:gd name="adj" fmla="val 8800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73880" y="2834640"/>
            <a:ext cx="64008" cy="1143000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6760" y="2990088"/>
            <a:ext cx="28102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Herramientas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4556760" y="3310128"/>
            <a:ext cx="27736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IA, agentes, n8n, APIs, dashboards, scripts.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7559040" y="3406140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833360" y="2834640"/>
            <a:ext cx="3139440" cy="1143000"/>
          </a:xfrm>
          <a:prstGeom prst="roundRect">
            <a:avLst>
              <a:gd name="adj" fmla="val 8800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833360" y="2834640"/>
            <a:ext cx="64008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16240" y="2990088"/>
            <a:ext cx="28102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Activos reutilizables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8016240" y="3310128"/>
            <a:ext cx="2773680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Conectores, prompts, workflows y playbooks.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1005840" y="4882896"/>
            <a:ext cx="9692640" cy="713232"/>
          </a:xfrm>
          <a:prstGeom prst="roundRect">
            <a:avLst>
              <a:gd name="adj" fmla="val 16667"/>
            </a:avLst>
          </a:prstGeom>
          <a:solidFill>
            <a:srgbClr val="6557E8">
              <a:alpha val="14000"/>
            </a:srgbClr>
          </a:solidFill>
          <a:ln w="12700">
            <a:solidFill>
              <a:srgbClr val="6557E8">
                <a:alpha val="9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225296" y="5047488"/>
            <a:ext cx="9253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Ventaja competitiva</a:t>
            </a:r>
            <a:endParaRPr lang="en-US" sz="1320" dirty="0"/>
          </a:p>
        </p:txBody>
      </p:sp>
      <p:sp>
        <p:nvSpPr>
          <p:cNvPr id="26" name="Text 22"/>
          <p:cNvSpPr/>
          <p:nvPr/>
        </p:nvSpPr>
        <p:spPr>
          <a:xfrm>
            <a:off x="1225296" y="5413248"/>
            <a:ext cx="92537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Cada implementación no solo resuelve un caso: deja capacidades que hacen a Simple más fuerte.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MÓDULOS VENDIBLES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12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961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Entramos por un dolor concreto y expandimos hacia la empresa aumentada.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69494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Cada módulo entrega valor por sí mismo, pero el valor real crece cuando comparten contexto.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49808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761488"/>
            <a:ext cx="64008" cy="94183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Ventas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932688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Leads, propuestas, publicaciones y seguimiento.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4425696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25696" y="2761488"/>
            <a:ext cx="64008" cy="94183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08576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Atención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4608576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Bots, tickets, derivación y trazabilidad.</a:t>
            </a:r>
            <a:endParaRPr lang="en-US" sz="1070" dirty="0"/>
          </a:p>
        </p:txBody>
      </p:sp>
      <p:sp>
        <p:nvSpPr>
          <p:cNvPr id="18" name="Shape 14"/>
          <p:cNvSpPr/>
          <p:nvPr/>
        </p:nvSpPr>
        <p:spPr>
          <a:xfrm>
            <a:off x="8101584" y="276148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01584" y="2761488"/>
            <a:ext cx="64008" cy="94183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84464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Operaciones</a:t>
            </a:r>
            <a:endParaRPr lang="en-US" sz="1260" dirty="0"/>
          </a:p>
        </p:txBody>
      </p:sp>
      <p:sp>
        <p:nvSpPr>
          <p:cNvPr id="21" name="Text 17"/>
          <p:cNvSpPr/>
          <p:nvPr/>
        </p:nvSpPr>
        <p:spPr>
          <a:xfrm>
            <a:off x="8284464" y="323697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Alertas, estados, workflows y control.</a:t>
            </a:r>
            <a:endParaRPr lang="en-US" sz="1070" dirty="0"/>
          </a:p>
        </p:txBody>
      </p:sp>
      <p:sp>
        <p:nvSpPr>
          <p:cNvPr id="22" name="Shape 18"/>
          <p:cNvSpPr/>
          <p:nvPr/>
        </p:nvSpPr>
        <p:spPr>
          <a:xfrm>
            <a:off x="749808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9808" y="4041648"/>
            <a:ext cx="64008" cy="94183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32688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Administración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932688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Cobros, reportes, conciliación y contratos.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4425696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F0B94D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425696" y="4041648"/>
            <a:ext cx="64008" cy="941832"/>
          </a:xfrm>
          <a:prstGeom prst="rect">
            <a:avLst/>
          </a:prstGeom>
          <a:solidFill>
            <a:srgbClr val="F0B9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08576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Analítica</a:t>
            </a:r>
            <a:endParaRPr lang="en-US" sz="1260" dirty="0"/>
          </a:p>
        </p:txBody>
      </p:sp>
      <p:sp>
        <p:nvSpPr>
          <p:cNvPr id="29" name="Text 25"/>
          <p:cNvSpPr/>
          <p:nvPr/>
        </p:nvSpPr>
        <p:spPr>
          <a:xfrm>
            <a:off x="4608576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Datos, patrones, oportunidades y riesgos.</a:t>
            </a:r>
            <a:endParaRPr lang="en-US" sz="1070" dirty="0"/>
          </a:p>
        </p:txBody>
      </p:sp>
      <p:sp>
        <p:nvSpPr>
          <p:cNvPr id="30" name="Shape 26"/>
          <p:cNvSpPr/>
          <p:nvPr/>
        </p:nvSpPr>
        <p:spPr>
          <a:xfrm>
            <a:off x="8101584" y="4041648"/>
            <a:ext cx="2907792" cy="941832"/>
          </a:xfrm>
          <a:prstGeom prst="roundRect">
            <a:avLst>
              <a:gd name="adj" fmla="val 10680"/>
            </a:avLst>
          </a:prstGeom>
          <a:solidFill>
            <a:srgbClr val="F0FBFD"/>
          </a:solidFill>
          <a:ln w="12700">
            <a:solidFill>
              <a:srgbClr val="16B8B6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101584" y="4041648"/>
            <a:ext cx="64008" cy="941832"/>
          </a:xfrm>
          <a:prstGeom prst="rect">
            <a:avLst/>
          </a:prstGeom>
          <a:solidFill>
            <a:srgbClr val="16B8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284464" y="4197096"/>
            <a:ext cx="2578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42335"/>
                </a:solidFill>
              </a:rPr>
              <a:t>Integraciones</a:t>
            </a:r>
            <a:endParaRPr lang="en-US" sz="1260" dirty="0"/>
          </a:p>
        </p:txBody>
      </p:sp>
      <p:sp>
        <p:nvSpPr>
          <p:cNvPr id="33" name="Text 29"/>
          <p:cNvSpPr/>
          <p:nvPr/>
        </p:nvSpPr>
        <p:spPr>
          <a:xfrm>
            <a:off x="8284464" y="4517136"/>
            <a:ext cx="25420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APIs, bases, archivos y sistemas legacy.</a:t>
            </a:r>
            <a:endParaRPr lang="en-US" sz="1070" dirty="0"/>
          </a:p>
        </p:txBody>
      </p:sp>
      <p:sp>
        <p:nvSpPr>
          <p:cNvPr id="34" name="Text 30"/>
          <p:cNvSpPr/>
          <p:nvPr/>
        </p:nvSpPr>
        <p:spPr>
          <a:xfrm>
            <a:off x="896112" y="5650992"/>
            <a:ext cx="8595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0B2A47"/>
                </a:solidFill>
              </a:rPr>
              <a:t>Una misma capa de inteligencia para múltiples áreas de la empresa.</a:t>
            </a:r>
            <a:endParaRPr lang="en-US" sz="15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PLAN DE NEGOCIO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13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+ SaaS + consumo + mejora continua.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A77"/>
                </a:solidFill>
              </a:rPr>
              <a:t>Ingresos iniciales por puesta en marcha, recurrencia mensual y expansión por módulos, agentes e integraciones.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13232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28C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788920"/>
            <a:ext cx="64008" cy="1078992"/>
          </a:xfrm>
          <a:prstGeom prst="rect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Setup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896112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Diagnóstico, conectores, seguridad y primer flujo productivo.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3207258" y="3328416"/>
            <a:ext cx="210312" cy="0"/>
          </a:xfrm>
          <a:prstGeom prst="line">
            <a:avLst/>
          </a:prstGeom>
          <a:noFill/>
          <a:ln w="12700">
            <a:solidFill>
              <a:srgbClr val="28C7E8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81578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17AF2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81578" y="2788920"/>
            <a:ext cx="64008" cy="1078992"/>
          </a:xfrm>
          <a:prstGeom prst="rect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64458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SaaS mensual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3664458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Planes por módulos, usuarios, tenants e integraciones.</a:t>
            </a:r>
            <a:endParaRPr lang="en-US" sz="1070" dirty="0"/>
          </a:p>
        </p:txBody>
      </p:sp>
      <p:sp>
        <p:nvSpPr>
          <p:cNvPr id="19" name="Shape 15"/>
          <p:cNvSpPr/>
          <p:nvPr/>
        </p:nvSpPr>
        <p:spPr>
          <a:xfrm>
            <a:off x="5975604" y="3328416"/>
            <a:ext cx="210312" cy="0"/>
          </a:xfrm>
          <a:prstGeom prst="line">
            <a:avLst/>
          </a:prstGeom>
          <a:noFill/>
          <a:ln w="12700">
            <a:solidFill>
              <a:srgbClr val="317AF2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49924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34D399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49924" y="278892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Consumo</a:t>
            </a:r>
            <a:endParaRPr lang="en-US" sz="1220" dirty="0"/>
          </a:p>
        </p:txBody>
      </p:sp>
      <p:sp>
        <p:nvSpPr>
          <p:cNvPr id="23" name="Text 19"/>
          <p:cNvSpPr/>
          <p:nvPr/>
        </p:nvSpPr>
        <p:spPr>
          <a:xfrm>
            <a:off x="6432804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IA, mensajes, ejecuciones, almacenamiento y procesamiento.</a:t>
            </a:r>
            <a:endParaRPr lang="en-US" sz="1070" dirty="0"/>
          </a:p>
        </p:txBody>
      </p:sp>
      <p:sp>
        <p:nvSpPr>
          <p:cNvPr id="24" name="Shape 20"/>
          <p:cNvSpPr/>
          <p:nvPr/>
        </p:nvSpPr>
        <p:spPr>
          <a:xfrm>
            <a:off x="8743950" y="3328416"/>
            <a:ext cx="210312" cy="0"/>
          </a:xfrm>
          <a:prstGeom prst="line">
            <a:avLst/>
          </a:prstGeom>
          <a:noFill/>
          <a:ln w="12700">
            <a:solidFill>
              <a:srgbClr val="34D399">
                <a:alpha val="98000"/>
              </a:srgbClr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018270" y="2788920"/>
            <a:ext cx="2448306" cy="1078992"/>
          </a:xfrm>
          <a:prstGeom prst="roundRect">
            <a:avLst>
              <a:gd name="adj" fmla="val 9322"/>
            </a:avLst>
          </a:prstGeom>
          <a:solidFill>
            <a:srgbClr val="F0FBFD"/>
          </a:solidFill>
          <a:ln w="12700">
            <a:solidFill>
              <a:srgbClr val="6557E8">
                <a:alpha val="96000"/>
              </a:srgbClr>
            </a:solidFill>
            <a:prstDash val="solid"/>
          </a:ln>
          <a:effectLst>
            <a:outerShdw sx="100000" sy="100000" kx="0" ky="0" algn="bl" rotWithShape="0" blurRad="16510" dist="50800" dir="2700000">
              <a:srgbClr val="91DDE8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18270" y="2788920"/>
            <a:ext cx="64008" cy="1078992"/>
          </a:xfrm>
          <a:prstGeom prst="rect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1150" y="2944368"/>
            <a:ext cx="211912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42335"/>
                </a:solidFill>
              </a:rPr>
              <a:t>Servicios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9201150" y="3264408"/>
            <a:ext cx="208254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A77"/>
                </a:solidFill>
              </a:rPr>
              <a:t>Soporte, AI Ops, optimización y nuevas integraciones.</a:t>
            </a:r>
            <a:endParaRPr lang="en-US" sz="1070" dirty="0"/>
          </a:p>
        </p:txBody>
      </p:sp>
      <p:sp>
        <p:nvSpPr>
          <p:cNvPr id="29" name="Shape 25"/>
          <p:cNvSpPr/>
          <p:nvPr/>
        </p:nvSpPr>
        <p:spPr>
          <a:xfrm>
            <a:off x="896112" y="4846320"/>
            <a:ext cx="10012680" cy="713232"/>
          </a:xfrm>
          <a:prstGeom prst="roundRect">
            <a:avLst>
              <a:gd name="adj" fmla="val 16667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15568" y="5010912"/>
            <a:ext cx="95737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Rangos sugeridos</a:t>
            </a:r>
            <a:endParaRPr lang="en-US" sz="1320" dirty="0"/>
          </a:p>
        </p:txBody>
      </p:sp>
      <p:sp>
        <p:nvSpPr>
          <p:cNvPr id="31" name="Text 27"/>
          <p:cNvSpPr/>
          <p:nvPr/>
        </p:nvSpPr>
        <p:spPr>
          <a:xfrm>
            <a:off x="1115568" y="5376672"/>
            <a:ext cx="957376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Starter: USD 100–300/mes · Growth: USD 500–1.500/mes · Enterprise: desde USD 3.000/mes + implementación + consumo.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14400" y="5742432"/>
            <a:ext cx="9601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B2A47"/>
                </a:solidFill>
              </a:rPr>
              <a:t>Objetivo: bajar costo marginal y aumentar velocidad de entrega con activos reutilizables.</a:t>
            </a:r>
            <a:endParaRPr lang="en-US" sz="13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90" y="292608"/>
            <a:ext cx="1536748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93776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7AF2"/>
                </a:solidFill>
              </a:rPr>
              <a:t>GO-TO-MARKET</a:t>
            </a:r>
            <a:endParaRPr lang="en-US" sz="850" dirty="0"/>
          </a:p>
        </p:txBody>
      </p:sp>
      <p:sp>
        <p:nvSpPr>
          <p:cNvPr id="5" name="Shape 1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14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658368" y="9601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3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Vender alivio operativo primero. Plataforma después.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58368" y="1792224"/>
            <a:ext cx="78638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26A77"/>
                </a:solidFill>
              </a:rPr>
              <a:t>La venta empieza con un proceso que duele y puede mejorar rápido: WhatsApp, ventas, soporte, reportes, integraciones o cobranza.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795528" y="2816352"/>
            <a:ext cx="146304" cy="146304"/>
          </a:xfrm>
          <a:prstGeom prst="ellipse">
            <a:avLst/>
          </a:prstGeom>
          <a:solidFill>
            <a:srgbClr val="28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43000" y="276148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1. Diagnóstico express</a:t>
            </a:r>
            <a:endParaRPr lang="en-US" sz="1270" dirty="0"/>
          </a:p>
        </p:txBody>
      </p:sp>
      <p:sp>
        <p:nvSpPr>
          <p:cNvPr id="12" name="Text 8"/>
          <p:cNvSpPr/>
          <p:nvPr/>
        </p:nvSpPr>
        <p:spPr>
          <a:xfrm>
            <a:off x="3584448" y="2761488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Mapa de sistemas, conversaciones, tareas manuales y oportunidades rápidas.</a:t>
            </a:r>
            <a:endParaRPr lang="en-US" sz="1230" dirty="0"/>
          </a:p>
        </p:txBody>
      </p:sp>
      <p:sp>
        <p:nvSpPr>
          <p:cNvPr id="13" name="Shape 9"/>
          <p:cNvSpPr/>
          <p:nvPr/>
        </p:nvSpPr>
        <p:spPr>
          <a:xfrm>
            <a:off x="795528" y="3474720"/>
            <a:ext cx="146304" cy="146304"/>
          </a:xfrm>
          <a:prstGeom prst="ellipse">
            <a:avLst/>
          </a:prstGeom>
          <a:solidFill>
            <a:srgbClr val="317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43000" y="3419856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2. Piloto pago</a:t>
            </a:r>
            <a:endParaRPr lang="en-US" sz="1270" dirty="0"/>
          </a:p>
        </p:txBody>
      </p:sp>
      <p:sp>
        <p:nvSpPr>
          <p:cNvPr id="15" name="Text 11"/>
          <p:cNvSpPr/>
          <p:nvPr/>
        </p:nvSpPr>
        <p:spPr>
          <a:xfrm>
            <a:off x="3584448" y="3419856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Un flujo concreto con valor visible en semanas.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795528" y="41330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43000" y="4078224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3. Expansión modular</a:t>
            </a:r>
            <a:endParaRPr lang="en-US" sz="1270" dirty="0"/>
          </a:p>
        </p:txBody>
      </p:sp>
      <p:sp>
        <p:nvSpPr>
          <p:cNvPr id="18" name="Text 14"/>
          <p:cNvSpPr/>
          <p:nvPr/>
        </p:nvSpPr>
        <p:spPr>
          <a:xfrm>
            <a:off x="3584448" y="4078224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Nuevos agentes, bots e integraciones conectados al mismo contexto.</a:t>
            </a:r>
            <a:endParaRPr lang="en-US" sz="1230" dirty="0"/>
          </a:p>
        </p:txBody>
      </p:sp>
      <p:sp>
        <p:nvSpPr>
          <p:cNvPr id="19" name="Shape 15"/>
          <p:cNvSpPr/>
          <p:nvPr/>
        </p:nvSpPr>
        <p:spPr>
          <a:xfrm>
            <a:off x="795528" y="4791456"/>
            <a:ext cx="146304" cy="146304"/>
          </a:xfrm>
          <a:prstGeom prst="ellipse">
            <a:avLst/>
          </a:prstGeom>
          <a:solidFill>
            <a:srgbClr val="655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43000" y="4736592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42335"/>
                </a:solidFill>
              </a:rPr>
              <a:t>4. Cuenta estratégica</a:t>
            </a:r>
            <a:endParaRPr lang="en-US" sz="1270" dirty="0"/>
          </a:p>
        </p:txBody>
      </p:sp>
      <p:sp>
        <p:nvSpPr>
          <p:cNvPr id="21" name="Text 17"/>
          <p:cNvSpPr/>
          <p:nvPr/>
        </p:nvSpPr>
        <p:spPr>
          <a:xfrm>
            <a:off x="3584448" y="4736592"/>
            <a:ext cx="7223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A77"/>
                </a:solidFill>
              </a:rPr>
              <a:t>Simple como capa de operación inteligente de la empresa.</a:t>
            </a:r>
            <a:endParaRPr lang="en-US" sz="1230" dirty="0"/>
          </a:p>
        </p:txBody>
      </p:sp>
      <p:sp>
        <p:nvSpPr>
          <p:cNvPr id="22" name="Shape 18"/>
          <p:cNvSpPr/>
          <p:nvPr/>
        </p:nvSpPr>
        <p:spPr>
          <a:xfrm>
            <a:off x="960120" y="5504688"/>
            <a:ext cx="2971800" cy="512064"/>
          </a:xfrm>
          <a:prstGeom prst="roundRect">
            <a:avLst>
              <a:gd name="adj" fmla="val 23214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79576" y="5669280"/>
            <a:ext cx="2532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Foco inicial</a:t>
            </a:r>
            <a:endParaRPr lang="en-US" sz="1320" dirty="0"/>
          </a:p>
        </p:txBody>
      </p:sp>
      <p:sp>
        <p:nvSpPr>
          <p:cNvPr id="24" name="Text 20"/>
          <p:cNvSpPr/>
          <p:nvPr/>
        </p:nvSpPr>
        <p:spPr>
          <a:xfrm>
            <a:off x="1179576" y="6035040"/>
            <a:ext cx="2532888" cy="-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Retail, e-commerce y operaciones con mucho WhatsApp.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160520" y="5504688"/>
            <a:ext cx="2971800" cy="512064"/>
          </a:xfrm>
          <a:prstGeom prst="roundRect">
            <a:avLst>
              <a:gd name="adj" fmla="val 23214"/>
            </a:avLst>
          </a:prstGeom>
          <a:solidFill>
            <a:srgbClr val="28C7E8">
              <a:alpha val="14000"/>
            </a:srgbClr>
          </a:solidFill>
          <a:ln w="12700">
            <a:solidFill>
              <a:srgbClr val="28C7E8">
                <a:alpha val="9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79976" y="5669280"/>
            <a:ext cx="2532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Canal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4379976" y="6035040"/>
            <a:ext cx="2532888" cy="-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Partners, integradores y casos propios.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360920" y="5504688"/>
            <a:ext cx="2971800" cy="512064"/>
          </a:xfrm>
          <a:prstGeom prst="roundRect">
            <a:avLst>
              <a:gd name="adj" fmla="val 23214"/>
            </a:avLst>
          </a:prstGeom>
          <a:solidFill>
            <a:srgbClr val="317AF2">
              <a:alpha val="14000"/>
            </a:srgbClr>
          </a:solidFill>
          <a:ln w="12700">
            <a:solidFill>
              <a:srgbClr val="317AF2">
                <a:alpha val="9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580376" y="5669280"/>
            <a:ext cx="2532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42335"/>
                </a:solidFill>
              </a:rPr>
              <a:t>Métrica</a:t>
            </a:r>
            <a:endParaRPr lang="en-US" sz="1320" dirty="0"/>
          </a:p>
        </p:txBody>
      </p:sp>
      <p:sp>
        <p:nvSpPr>
          <p:cNvPr id="30" name="Text 26"/>
          <p:cNvSpPr/>
          <p:nvPr/>
        </p:nvSpPr>
        <p:spPr>
          <a:xfrm>
            <a:off x="7580376" y="6035040"/>
            <a:ext cx="2532888" cy="-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A77"/>
                </a:solidFill>
              </a:rPr>
              <a:t>Tiempo ahorrado + operación controlada.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technology_business_background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imple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606" y="960120"/>
            <a:ext cx="3442316" cy="10241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2514600"/>
            <a:ext cx="10058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142335"/>
                </a:solidFill>
              </a:rPr>
              <a:t>Tu empresa, pero más conectada, más inteligente y más humana.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1508760" y="3511296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dirty="0">
                <a:solidFill>
                  <a:srgbClr val="526A77"/>
                </a:solidFill>
              </a:rPr>
              <a:t>Conectá sistemas. Automatizá flujos. Activá agentes. Aumentá personas.</a:t>
            </a:r>
            <a:endParaRPr lang="en-US" sz="1620" dirty="0"/>
          </a:p>
        </p:txBody>
      </p:sp>
      <p:sp>
        <p:nvSpPr>
          <p:cNvPr id="6" name="Shape 2"/>
          <p:cNvSpPr/>
          <p:nvPr/>
        </p:nvSpPr>
        <p:spPr>
          <a:xfrm>
            <a:off x="2999232" y="4617720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317AF2">
              <a:alpha val="80000"/>
            </a:srgbClr>
          </a:solidFill>
          <a:ln w="12700">
            <a:solidFill>
              <a:srgbClr val="317AF2">
                <a:alpha val="7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044952" y="4713732"/>
            <a:ext cx="11430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IA aplicada</a:t>
            </a:r>
            <a:endParaRPr lang="en-US" sz="820" dirty="0"/>
          </a:p>
        </p:txBody>
      </p:sp>
      <p:sp>
        <p:nvSpPr>
          <p:cNvPr id="8" name="Shape 4"/>
          <p:cNvSpPr/>
          <p:nvPr/>
        </p:nvSpPr>
        <p:spPr>
          <a:xfrm>
            <a:off x="4553712" y="461772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99432" y="4713732"/>
            <a:ext cx="1920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comunicación natural</a:t>
            </a:r>
            <a:endParaRPr lang="en-US" sz="820" dirty="0"/>
          </a:p>
        </p:txBody>
      </p:sp>
      <p:sp>
        <p:nvSpPr>
          <p:cNvPr id="10" name="Shape 6"/>
          <p:cNvSpPr/>
          <p:nvPr/>
        </p:nvSpPr>
        <p:spPr>
          <a:xfrm>
            <a:off x="6876288" y="4617720"/>
            <a:ext cx="1600200" cy="320040"/>
          </a:xfrm>
          <a:prstGeom prst="roundRect">
            <a:avLst>
              <a:gd name="adj" fmla="val 34286"/>
            </a:avLst>
          </a:prstGeom>
          <a:solidFill>
            <a:srgbClr val="6557E8">
              <a:alpha val="80000"/>
            </a:srgbClr>
          </a:solidFill>
          <a:ln w="12700">
            <a:solidFill>
              <a:srgbClr val="6557E8">
                <a:alpha val="7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22008" y="4713732"/>
            <a:ext cx="15087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bots y agentes</a:t>
            </a:r>
            <a:endParaRPr lang="en-US" sz="820" dirty="0"/>
          </a:p>
        </p:txBody>
      </p:sp>
      <p:sp>
        <p:nvSpPr>
          <p:cNvPr id="12" name="Shape 8"/>
          <p:cNvSpPr/>
          <p:nvPr/>
        </p:nvSpPr>
        <p:spPr>
          <a:xfrm>
            <a:off x="8778240" y="4617720"/>
            <a:ext cx="1874520" cy="320040"/>
          </a:xfrm>
          <a:prstGeom prst="roundRect">
            <a:avLst>
              <a:gd name="adj" fmla="val 34286"/>
            </a:avLst>
          </a:prstGeom>
          <a:solidFill>
            <a:srgbClr val="28C7E8">
              <a:alpha val="80000"/>
            </a:srgbClr>
          </a:solidFill>
          <a:ln w="12700">
            <a:solidFill>
              <a:srgbClr val="28C7E8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23960" y="4713732"/>
            <a:ext cx="17830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2A47"/>
                </a:solidFill>
              </a:rPr>
              <a:t>operación conectada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658368" y="6300216"/>
            <a:ext cx="10863072" cy="0"/>
          </a:xfrm>
          <a:prstGeom prst="line">
            <a:avLst/>
          </a:prstGeom>
          <a:noFill/>
          <a:ln w="12700">
            <a:solidFill>
              <a:srgbClr val="A9E6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642823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6A77"/>
                </a:solidFill>
              </a:rPr>
              <a:t>Simple · tu empresa aumentada por IA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11064240" y="6428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17AF2"/>
                </a:solidFill>
              </a:rPr>
              <a:t>15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Simple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- Tu empresa aumentada por IA</dc:title>
  <dc:subject>Pitch deck - Simple</dc:subject>
  <dc:creator>Simple</dc:creator>
  <cp:lastModifiedBy>Simple</cp:lastModifiedBy>
  <cp:revision>1</cp:revision>
  <dcterms:created xsi:type="dcterms:W3CDTF">2026-05-23T17:01:34Z</dcterms:created>
  <dcterms:modified xsi:type="dcterms:W3CDTF">2026-05-23T17:01:34Z</dcterms:modified>
</cp:coreProperties>
</file>